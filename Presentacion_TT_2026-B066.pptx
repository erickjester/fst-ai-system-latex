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p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5760"/>
            <a:ext cx="822960" cy="822960"/>
          </a:xfrm>
          <a:prstGeom prst="rect">
            <a:avLst/>
          </a:prstGeom>
        </p:spPr>
      </p:pic>
      <p:pic>
        <p:nvPicPr>
          <p:cNvPr id="6" name="Picture 5" descr="logo_esc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365760"/>
            <a:ext cx="1079292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146304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CADCFC"/>
                </a:solidFill>
                <a:latin typeface="Calibri"/>
              </a:rPr>
              <a:t>INSTITUTO POLITÉCNICO NACIONAL  ·  ESCUELA SUPERIOR DE CÓMPUTO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828800"/>
            <a:ext cx="1219169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00C896"/>
                </a:solidFill>
                <a:latin typeface="Calibri"/>
              </a:rPr>
              <a:t>Trabajo Terminal 2026-B066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10728655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Georgia"/>
              </a:rPr>
              <a:t>Prototipo de un sistema web
de análisis conductual asistido por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1072865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CADCFC"/>
                </a:solidFill>
                <a:latin typeface="Calibri"/>
              </a:rPr>
              <a:t>Modelo de conducta depresiva en rata mediante nado forzado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0" y="4389120"/>
            <a:ext cx="3977640" cy="0"/>
          </a:xfrm>
          <a:prstGeom prst="line">
            <a:avLst/>
          </a:prstGeom>
          <a:ln w="25400">
            <a:solidFill>
              <a:srgbClr val="00C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0" y="4526280"/>
            <a:ext cx="1219169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CADCFC"/>
                </a:solidFill>
                <a:latin typeface="Calibri"/>
              </a:rPr>
              <a:t>Presentan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480060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Frausto Robles Ángel Ali    ·    Rodríguez Verdín Sandoval Vanesa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5349240"/>
            <a:ext cx="1219169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CADCFC"/>
                </a:solidFill>
                <a:latin typeface="Calibri"/>
              </a:rPr>
              <a:t>Directores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5577840"/>
            <a:ext cx="1219169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Dra. Cordero López Martha Rosa    ·    Dr. Salas Ramírez Israel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126480"/>
            <a:ext cx="1219169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00C896"/>
                </a:solidFill>
                <a:latin typeface="Georgia"/>
              </a:rP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B2447"/>
                </a:solidFill>
                <a:latin typeface="Georgia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Contenido de la presentación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325880"/>
            <a:ext cx="3337560" cy="0"/>
          </a:xfrm>
          <a:prstGeom prst="line">
            <a:avLst/>
          </a:prstGeom>
          <a:ln w="27940">
            <a:solidFill>
              <a:srgbClr val="00C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31520" y="1737360"/>
            <a:ext cx="530352" cy="530352"/>
          </a:xfrm>
          <a:prstGeom prst="ellipse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530352" cy="53035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19072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B2447"/>
                </a:solidFill>
                <a:latin typeface="Calibri"/>
              </a:rPr>
              <a:t>Introducción y problemática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048255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Contexto FST · problema · propuesta de solución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450591"/>
            <a:ext cx="530352" cy="530352"/>
          </a:xfrm>
          <a:prstGeom prst="ellipse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50591"/>
            <a:ext cx="530352" cy="53035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32303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B2447"/>
                </a:solidFill>
                <a:latin typeface="Calibri"/>
              </a:rPr>
              <a:t>Objetivos y justificación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761487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Metas técnicas · ISO/IEC 25010 · alcance del prototipo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163824"/>
            <a:ext cx="530352" cy="530352"/>
          </a:xfrm>
          <a:prstGeom prst="ellipse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63824"/>
            <a:ext cx="530352" cy="53035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145536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B2447"/>
                </a:solidFill>
                <a:latin typeface="Calibri"/>
              </a:rPr>
              <a:t>Fundamentos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47472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Estado del arte · marcos teóricos (conductual, visión, DL)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3877056"/>
            <a:ext cx="530352" cy="530352"/>
          </a:xfrm>
          <a:prstGeom prst="ellipse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77056"/>
            <a:ext cx="530352" cy="53035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858768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B2447"/>
                </a:solidFill>
                <a:latin typeface="Calibri"/>
              </a:rPr>
              <a:t>Metodología e ingeniería de requisitos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187952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Scrum · RF · RNF · reglas de negocio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590288"/>
            <a:ext cx="530352" cy="530352"/>
          </a:xfrm>
          <a:prstGeom prst="ellipse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590288"/>
            <a:ext cx="530352" cy="53035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5720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B2447"/>
                </a:solidFill>
                <a:latin typeface="Calibri"/>
              </a:rPr>
              <a:t>Diseño del sistema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901183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Riesgos · arquitectura · pipeline · BD · vistas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" y="5303520"/>
            <a:ext cx="530352" cy="530352"/>
          </a:xfrm>
          <a:prstGeom prst="ellipse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303520"/>
            <a:ext cx="530352" cy="53035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285232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B2447"/>
                </a:solidFill>
                <a:latin typeface="Calibri"/>
              </a:rPr>
              <a:t>Validación y cierre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614416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Métricas · conclusiones · trabajo futuro · bibliografía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56539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TT 2026-B066  ·  ESCOM-IPN  ·  Sistema FST con 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B2447"/>
                </a:solidFill>
                <a:latin typeface="Georgia"/>
              </a:rPr>
              <a:t>Introducción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Antecedentes del nado forzado y neurociencia preclínica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365760"/>
            <a:ext cx="1463040" cy="32004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36576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 / 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325880"/>
            <a:ext cx="3337560" cy="0"/>
          </a:xfrm>
          <a:prstGeom prst="line">
            <a:avLst/>
          </a:prstGeom>
          <a:ln w="27940">
            <a:solidFill>
              <a:srgbClr val="00C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55167" y="1691640"/>
            <a:ext cx="338328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5167" y="1691640"/>
            <a:ext cx="82296" cy="1417320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767" y="1810512"/>
            <a:ext cx="31089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00C896"/>
                </a:solidFill>
                <a:latin typeface="Georgia"/>
              </a:rPr>
              <a:t>280+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767" y="2514600"/>
            <a:ext cx="3108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personas viven
con depresión (OMS)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4207" y="1691640"/>
            <a:ext cx="338328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4207" y="1691640"/>
            <a:ext cx="82296" cy="1417320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2807" y="1810512"/>
            <a:ext cx="31089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576CBC"/>
                </a:solidFill>
                <a:latin typeface="Georgia"/>
              </a:rPr>
              <a:t>8,000+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2807" y="2514600"/>
            <a:ext cx="3108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artículos publicados
con FST desde 2000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53247" y="1691640"/>
            <a:ext cx="338328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3247" y="1691640"/>
            <a:ext cx="82296" cy="1417320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1847" y="1810512"/>
            <a:ext cx="31089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9376D"/>
                </a:solidFill>
                <a:latin typeface="Georgia"/>
              </a:rPr>
              <a:t>Desde 1977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1847" y="2514600"/>
            <a:ext cx="3108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paradigma de
Porsolt et 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429000"/>
            <a:ext cx="10728655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429000"/>
            <a:ext cx="82296" cy="301752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6118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B2447"/>
                </a:solidFill>
                <a:latin typeface="Calibri"/>
              </a:rPr>
              <a:t>El nado forzado como modelo preclínico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160520"/>
            <a:ext cx="10332720" cy="2103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0C896"/>
                </a:solidFill>
                <a:latin typeface="Calibri"/>
              </a:rPr>
              <a:t>•  </a:t>
            </a:r>
            <a:r>
              <a:rPr sz="1400">
                <a:solidFill>
                  <a:srgbClr val="1A202C"/>
                </a:solidFill>
                <a:latin typeface="Calibri"/>
              </a:rPr>
              <a:t>Paradigma conductual estándar para evaluar potencial antidepresivo de nuevas moléculas.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0C896"/>
                </a:solidFill>
                <a:latin typeface="Calibri"/>
              </a:rPr>
              <a:t>•  </a:t>
            </a:r>
            <a:r>
              <a:rPr sz="1400">
                <a:solidFill>
                  <a:srgbClr val="1A202C"/>
                </a:solidFill>
                <a:latin typeface="Calibri"/>
              </a:rPr>
              <a:t>La rata flota con movimientos mínimos tras el estrés → desesperanza conductual.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0C896"/>
                </a:solidFill>
                <a:latin typeface="Calibri"/>
              </a:rPr>
              <a:t>•  </a:t>
            </a:r>
            <a:r>
              <a:rPr sz="1400">
                <a:solidFill>
                  <a:srgbClr val="1A202C"/>
                </a:solidFill>
                <a:latin typeface="Calibri"/>
              </a:rPr>
              <a:t>Validez predictiva: los fármacos aprobados clínicamente reducen la inmovilidad.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0C896"/>
                </a:solidFill>
                <a:latin typeface="Calibri"/>
              </a:rPr>
              <a:t>•  </a:t>
            </a:r>
            <a:r>
              <a:rPr sz="1400">
                <a:solidFill>
                  <a:srgbClr val="1A202C"/>
                </a:solidFill>
                <a:latin typeface="Calibri"/>
              </a:rPr>
              <a:t>Usado en neurociencia preclínica para distinguir mecanismos serotoninérgicos y noradrenérgicos.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56539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TT 2026-B066  ·  ESCOM-IPN  ·  Sistema FST con 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B2447"/>
                </a:solidFill>
                <a:latin typeface="Georgia"/>
              </a:rPr>
              <a:t>Planteamiento del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Costos de tiempo, variabilidad y falta de registro centralizado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365760"/>
            <a:ext cx="1463040" cy="32004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36576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 / 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325880"/>
            <a:ext cx="3337560" cy="0"/>
          </a:xfrm>
          <a:prstGeom prst="line">
            <a:avLst/>
          </a:prstGeom>
          <a:ln w="27940">
            <a:solidFill>
              <a:srgbClr val="00C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31520" y="1554480"/>
            <a:ext cx="539496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54480"/>
            <a:ext cx="5394960" cy="640080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5212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</a:rPr>
              <a:t>Laboratorio de Neurociencia Conductual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86000"/>
            <a:ext cx="5120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ENMyH-IPN  ·  Dr. Sandino Reyes López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B2447"/>
                </a:solidFill>
                <a:latin typeface="Calibri"/>
              </a:rPr>
              <a:t>Protocolo actual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60"/>
            <a:ext cx="5029200" cy="2103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0C896"/>
                </a:solidFill>
                <a:latin typeface="Calibri"/>
              </a:rPr>
              <a:t>•  </a:t>
            </a:r>
            <a:r>
              <a:rPr sz="1200">
                <a:solidFill>
                  <a:srgbClr val="1A202C"/>
                </a:solidFill>
                <a:latin typeface="Calibri"/>
              </a:rPr>
              <a:t>Videos con 4 ratas simultáneas (vista lateral).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0C896"/>
                </a:solidFill>
                <a:latin typeface="Calibri"/>
              </a:rPr>
              <a:t>•  </a:t>
            </a:r>
            <a:r>
              <a:rPr sz="1200">
                <a:solidFill>
                  <a:srgbClr val="1A202C"/>
                </a:solidFill>
                <a:latin typeface="Calibri"/>
              </a:rPr>
              <a:t>Sesión Día 1: 20 min (línea base).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0C896"/>
                </a:solidFill>
                <a:latin typeface="Calibri"/>
              </a:rPr>
              <a:t>•  </a:t>
            </a:r>
            <a:r>
              <a:rPr sz="1200">
                <a:solidFill>
                  <a:srgbClr val="1A202C"/>
                </a:solidFill>
                <a:latin typeface="Calibri"/>
              </a:rPr>
              <a:t>Sesión Día 2: 5 min (post-tratamiento).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0C896"/>
                </a:solidFill>
                <a:latin typeface="Calibri"/>
              </a:rPr>
              <a:t>•  </a:t>
            </a:r>
            <a:r>
              <a:rPr sz="1200">
                <a:solidFill>
                  <a:srgbClr val="1A202C"/>
                </a:solidFill>
                <a:latin typeface="Calibri"/>
              </a:rPr>
              <a:t>Cronómetro en mano, cuadro a cuadro.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554480"/>
            <a:ext cx="5120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B2447"/>
                </a:solidFill>
                <a:latin typeface="Georgia"/>
              </a:rPr>
              <a:t>Cuatro problemas concretos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057400"/>
            <a:ext cx="51206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2057400"/>
            <a:ext cx="82296" cy="1005840"/>
          </a:xfrm>
          <a:prstGeom prst="rect">
            <a:avLst/>
          </a:prstGeom>
          <a:solidFill>
            <a:srgbClr val="E96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75120" y="2240280"/>
            <a:ext cx="640080" cy="640080"/>
          </a:xfrm>
          <a:prstGeom prst="ellipse">
            <a:avLst/>
          </a:prstGeom>
          <a:solidFill>
            <a:srgbClr val="E96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24028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167128"/>
            <a:ext cx="4023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B2447"/>
                </a:solidFill>
                <a:latin typeface="Calibri"/>
              </a:rPr>
              <a:t>Tiempo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560320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Horas por experimento completo.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154680"/>
            <a:ext cx="51206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3154680"/>
            <a:ext cx="82296" cy="1005840"/>
          </a:xfrm>
          <a:prstGeom prst="rect">
            <a:avLst/>
          </a:prstGeom>
          <a:solidFill>
            <a:srgbClr val="E96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5120" y="3337560"/>
            <a:ext cx="640080" cy="640080"/>
          </a:xfrm>
          <a:prstGeom prst="ellipse">
            <a:avLst/>
          </a:prstGeom>
          <a:solidFill>
            <a:srgbClr val="E96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33756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264408"/>
            <a:ext cx="4023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B2447"/>
                </a:solidFill>
                <a:latin typeface="Calibri"/>
              </a:rPr>
              <a:t>Variabilidad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3657600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Criterios diferentes entre evaluadores.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4251960"/>
            <a:ext cx="51206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92240" y="4251960"/>
            <a:ext cx="82296" cy="1005840"/>
          </a:xfrm>
          <a:prstGeom prst="rect">
            <a:avLst/>
          </a:prstGeom>
          <a:solidFill>
            <a:srgbClr val="E96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75120" y="4434840"/>
            <a:ext cx="640080" cy="640080"/>
          </a:xfrm>
          <a:prstGeom prst="ellipse">
            <a:avLst/>
          </a:prstGeom>
          <a:solidFill>
            <a:srgbClr val="E96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4361688"/>
            <a:ext cx="4023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B2447"/>
                </a:solidFill>
                <a:latin typeface="Calibri"/>
              </a:rPr>
              <a:t>Sin centralizar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4754880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Resultados en hojas sueltas y notas.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5349240"/>
            <a:ext cx="51206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92240" y="5349240"/>
            <a:ext cx="82296" cy="1005840"/>
          </a:xfrm>
          <a:prstGeom prst="rect">
            <a:avLst/>
          </a:prstGeom>
          <a:solidFill>
            <a:srgbClr val="E96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675120" y="5532120"/>
            <a:ext cx="640080" cy="640080"/>
          </a:xfrm>
          <a:prstGeom prst="ellipse">
            <a:avLst/>
          </a:prstGeom>
          <a:solidFill>
            <a:srgbClr val="E96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553212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5458968"/>
            <a:ext cx="4023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B2447"/>
                </a:solidFill>
                <a:latin typeface="Calibri"/>
              </a:rPr>
              <a:t>Sin granularidad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5852159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Desglose por minuto inviable a mano.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56539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TT 2026-B066  ·  ESCOM-IPN  ·  Sistema FST con 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B2447"/>
                </a:solidFill>
                <a:latin typeface="Georgia"/>
              </a:rPr>
              <a:t>Propuesta de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Sistema web asíncrono con pipeline de IA para tres conductas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365760"/>
            <a:ext cx="1463040" cy="32004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36576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 / 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325880"/>
            <a:ext cx="3337560" cy="0"/>
          </a:xfrm>
          <a:prstGeom prst="line">
            <a:avLst/>
          </a:prstGeom>
          <a:ln w="27940">
            <a:solidFill>
              <a:srgbClr val="00C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72287" y="1691640"/>
            <a:ext cx="5394960" cy="4663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2287" y="1691640"/>
            <a:ext cx="5394960" cy="105156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887" y="1783080"/>
            <a:ext cx="13716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3887" y="1828800"/>
            <a:ext cx="38404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Pipeline de análisis de 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3887" y="233172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Detecta cada rata en su cilindro y clasifica cuadro a cuadro su conducta.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887" y="2971800"/>
            <a:ext cx="4983480" cy="3291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B2447"/>
                </a:solidFill>
                <a:latin typeface="Calibri"/>
              </a:rPr>
              <a:t>•  </a:t>
            </a:r>
            <a:r>
              <a:rPr sz="1200">
                <a:solidFill>
                  <a:srgbClr val="1A202C"/>
                </a:solidFill>
                <a:latin typeface="Calibri"/>
              </a:rPr>
              <a:t>Modelo de fondo + Otsu + morfología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B2447"/>
                </a:solidFill>
                <a:latin typeface="Calibri"/>
              </a:rPr>
              <a:t>•  </a:t>
            </a:r>
            <a:r>
              <a:rPr sz="1200">
                <a:solidFill>
                  <a:srgbClr val="1A202C"/>
                </a:solidFill>
                <a:latin typeface="Calibri"/>
              </a:rPr>
              <a:t>Detección con YOLOv8 (rat.pt)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B2447"/>
                </a:solidFill>
                <a:latin typeface="Calibri"/>
              </a:rPr>
              <a:t>•  </a:t>
            </a:r>
            <a:r>
              <a:rPr sz="1200">
                <a:solidFill>
                  <a:srgbClr val="1A202C"/>
                </a:solidFill>
                <a:latin typeface="Calibri"/>
              </a:rPr>
              <a:t>Seguimiento con ByteTrack + Kalman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B2447"/>
                </a:solidFill>
                <a:latin typeface="Calibri"/>
              </a:rPr>
              <a:t>•  </a:t>
            </a:r>
            <a:r>
              <a:rPr sz="1200">
                <a:solidFill>
                  <a:srgbClr val="1A202C"/>
                </a:solidFill>
                <a:latin typeface="Calibri"/>
              </a:rPr>
              <a:t>Clasificación con ResNet-18 (transfer learning)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B2447"/>
                </a:solidFill>
                <a:latin typeface="Calibri"/>
              </a:rPr>
              <a:t>•  </a:t>
            </a:r>
            <a:r>
              <a:rPr sz="1200">
                <a:solidFill>
                  <a:srgbClr val="1A202C"/>
                </a:solidFill>
                <a:latin typeface="Calibri"/>
              </a:rPr>
              <a:t>Respaldo: CSRT / KCF si falta GPU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24447" y="1691640"/>
            <a:ext cx="5394960" cy="4663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24447" y="1691640"/>
            <a:ext cx="5394960" cy="1051560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047" y="1783080"/>
            <a:ext cx="13716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6047" y="1828800"/>
            <a:ext cx="38404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Plataforma web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6047" y="233172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Un investigador sube videos desde el navegador y recibe reportes cuantitativos.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2971800"/>
            <a:ext cx="4983480" cy="3291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76CBC"/>
                </a:solidFill>
                <a:latin typeface="Calibri"/>
              </a:rPr>
              <a:t>•  </a:t>
            </a:r>
            <a:r>
              <a:rPr sz="1200">
                <a:solidFill>
                  <a:srgbClr val="1A202C"/>
                </a:solidFill>
                <a:latin typeface="Calibri"/>
              </a:rPr>
              <a:t>Carga de videos Día 1 / Día 2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76CBC"/>
                </a:solidFill>
                <a:latin typeface="Calibri"/>
              </a:rPr>
              <a:t>•  </a:t>
            </a:r>
            <a:r>
              <a:rPr sz="1200">
                <a:solidFill>
                  <a:srgbClr val="1A202C"/>
                </a:solidFill>
                <a:latin typeface="Calibri"/>
              </a:rPr>
              <a:t>Dashboard con estado y progreso en tiempo real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76CBC"/>
                </a:solidFill>
                <a:latin typeface="Calibri"/>
              </a:rPr>
              <a:t>•  </a:t>
            </a:r>
            <a:r>
              <a:rPr sz="1200">
                <a:solidFill>
                  <a:srgbClr val="1A202C"/>
                </a:solidFill>
                <a:latin typeface="Calibri"/>
              </a:rPr>
              <a:t>Resultados por animal, sesión y minuto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76CBC"/>
                </a:solidFill>
                <a:latin typeface="Calibri"/>
              </a:rPr>
              <a:t>•  </a:t>
            </a:r>
            <a:r>
              <a:rPr sz="1200">
                <a:solidFill>
                  <a:srgbClr val="1A202C"/>
                </a:solidFill>
                <a:latin typeface="Calibri"/>
              </a:rPr>
              <a:t>Reportes descargables en PDF y CSV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76CBC"/>
                </a:solidFill>
                <a:latin typeface="Calibri"/>
              </a:rPr>
              <a:t>•  </a:t>
            </a:r>
            <a:r>
              <a:rPr sz="1200">
                <a:solidFill>
                  <a:srgbClr val="1A202C"/>
                </a:solidFill>
                <a:latin typeface="Calibri"/>
              </a:rPr>
              <a:t>Gestión de usuarios y roles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56539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TT 2026-B066  ·  ESCOM-IPN  ·  Sistema FST con 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B2447"/>
                </a:solidFill>
                <a:latin typeface="Georgia"/>
              </a:rPr>
              <a:t>Objetivos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General y 6 específicos técnicos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365760"/>
            <a:ext cx="1463040" cy="32004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36576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 / 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325880"/>
            <a:ext cx="3337560" cy="0"/>
          </a:xfrm>
          <a:prstGeom prst="line">
            <a:avLst/>
          </a:prstGeom>
          <a:ln w="27940">
            <a:solidFill>
              <a:srgbClr val="00C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31520" y="1554480"/>
            <a:ext cx="10728655" cy="109728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54480"/>
            <a:ext cx="109728" cy="1097280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627632"/>
            <a:ext cx="10454335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1">
                <a:solidFill>
                  <a:srgbClr val="00C896"/>
                </a:solidFill>
                <a:latin typeface="Calibri"/>
              </a:rPr>
              <a:t>Objetivo general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10454335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Diseñar, desarrollar y validar un prototipo de sistema web asistido por IA que automatice la detección y cuantificación de las conductas del FST en ratas, con resultados comparables a la evaluación manual y cumpliendo los atributos de calidad de la ISO/IEC 25010.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1072865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B2447"/>
                </a:solidFill>
                <a:latin typeface="Calibri"/>
              </a:rPr>
              <a:t>Objetivos específicos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2287" y="3200400"/>
            <a:ext cx="365760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2287" y="3200400"/>
            <a:ext cx="82296" cy="1325880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0887" y="3429000"/>
            <a:ext cx="502920" cy="502920"/>
          </a:xfrm>
          <a:prstGeom prst="ellipse">
            <a:avLst/>
          </a:prstGeom>
          <a:solidFill>
            <a:srgbClr val="57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887" y="342900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0967" y="3429000"/>
            <a:ext cx="265176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Revisar trabajos y herramientas de análisis automatizado del FST.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7047" y="3200400"/>
            <a:ext cx="365760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67047" y="3200400"/>
            <a:ext cx="82296" cy="1325880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95647" y="3429000"/>
            <a:ext cx="502920" cy="502920"/>
          </a:xfrm>
          <a:prstGeom prst="ellipse">
            <a:avLst/>
          </a:prstGeom>
          <a:solidFill>
            <a:srgbClr val="57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5647" y="342900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5727" y="3429000"/>
            <a:ext cx="265176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Documentar el protocolo experimental y las condiciones de grabación.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61807" y="3200400"/>
            <a:ext cx="365760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61807" y="3200400"/>
            <a:ext cx="82296" cy="1325880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90407" y="3429000"/>
            <a:ext cx="502920" cy="502920"/>
          </a:xfrm>
          <a:prstGeom prst="ellipse">
            <a:avLst/>
          </a:prstGeom>
          <a:solidFill>
            <a:srgbClr val="57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0407" y="342900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0487" y="3429000"/>
            <a:ext cx="265176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Diseñar la arquitectura conforme a ISO/IEC/IEEE 12207.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2287" y="4690872"/>
            <a:ext cx="365760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2287" y="4690872"/>
            <a:ext cx="82296" cy="1325880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0887" y="4919472"/>
            <a:ext cx="502920" cy="502920"/>
          </a:xfrm>
          <a:prstGeom prst="ellipse">
            <a:avLst/>
          </a:prstGeom>
          <a:solidFill>
            <a:srgbClr val="57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0887" y="4919472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40967" y="4919472"/>
            <a:ext cx="265176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Implementar el pipeline de visión + clasificador supervisado.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67047" y="4690872"/>
            <a:ext cx="365760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67047" y="4690872"/>
            <a:ext cx="82296" cy="1325880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495647" y="4919472"/>
            <a:ext cx="502920" cy="502920"/>
          </a:xfrm>
          <a:prstGeom prst="ellipse">
            <a:avLst/>
          </a:prstGeom>
          <a:solidFill>
            <a:srgbClr val="57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95647" y="4919472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5727" y="4919472"/>
            <a:ext cx="265176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Validar con κ de Cohen y MAE contra el gold standard.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61807" y="4690872"/>
            <a:ext cx="365760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61807" y="4690872"/>
            <a:ext cx="82296" cy="1325880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290407" y="4919472"/>
            <a:ext cx="502920" cy="502920"/>
          </a:xfrm>
          <a:prstGeom prst="ellipse">
            <a:avLst/>
          </a:prstGeom>
          <a:solidFill>
            <a:srgbClr val="57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90407" y="4919472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30487" y="4919472"/>
            <a:ext cx="265176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Cuantificar la reducción de tiempo vs. análisis manual.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56539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TT 2026-B066  ·  ESCOM-IPN  ·  Sistema FST con IA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B2447"/>
                </a:solidFill>
                <a:latin typeface="Georgia"/>
              </a:rPr>
              <a:t>Justificación y Alcance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Cumplimiento ISO/IEC 25010:2023 · delimitaciones del prototipo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365760"/>
            <a:ext cx="1463040" cy="32004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36576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 / 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325880"/>
            <a:ext cx="3337560" cy="0"/>
          </a:xfrm>
          <a:prstGeom prst="line">
            <a:avLst/>
          </a:prstGeom>
          <a:ln w="27940">
            <a:solidFill>
              <a:srgbClr val="00C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31520" y="1600200"/>
            <a:ext cx="10728655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00200"/>
            <a:ext cx="109728" cy="1417320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69164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C896"/>
                </a:solidFill>
                <a:latin typeface="Calibri"/>
              </a:rPr>
              <a:t>Justificación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11680"/>
            <a:ext cx="1051560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00C896"/>
                </a:solidFill>
                <a:latin typeface="Calibri"/>
              </a:rPr>
              <a:t>•  </a:t>
            </a:r>
            <a:r>
              <a:rPr sz="1100">
                <a:solidFill>
                  <a:srgbClr val="1A202C"/>
                </a:solidFill>
                <a:latin typeface="Calibri"/>
              </a:rPr>
              <a:t>Reduce horas de análisis manual y homogeniza criterios entre evaluadores.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00C896"/>
                </a:solidFill>
                <a:latin typeface="Calibri"/>
              </a:rPr>
              <a:t>•  </a:t>
            </a:r>
            <a:r>
              <a:rPr sz="1100">
                <a:solidFill>
                  <a:srgbClr val="1A202C"/>
                </a:solidFill>
                <a:latin typeface="Calibri"/>
              </a:rPr>
              <a:t>Código abierto desplegable con Docker (ISO/IEC/IEEE 12207:2017).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00C896"/>
                </a:solidFill>
                <a:latin typeface="Calibri"/>
              </a:rPr>
              <a:t>•  </a:t>
            </a:r>
            <a:r>
              <a:rPr sz="1100">
                <a:solidFill>
                  <a:srgbClr val="1A202C"/>
                </a:solidFill>
                <a:latin typeface="Calibri"/>
              </a:rPr>
              <a:t>Clasificador modular: base para otros paradigmas conductuales.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00C896"/>
                </a:solidFill>
                <a:latin typeface="Calibri"/>
              </a:rPr>
              <a:t>•  </a:t>
            </a:r>
            <a:r>
              <a:rPr sz="1100">
                <a:solidFill>
                  <a:srgbClr val="1A202C"/>
                </a:solidFill>
                <a:latin typeface="Calibri"/>
              </a:rPr>
              <a:t>Atributos de calidad verificables bajo ISO/IEC 25010:2023 (κ, MAE, tiempo, usabilidad).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00400"/>
            <a:ext cx="54864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200400"/>
            <a:ext cx="5486400" cy="502920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5486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   ✓  Dentro del alcance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94760"/>
            <a:ext cx="5212080" cy="2468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00C896"/>
                </a:solidFill>
                <a:latin typeface="Calibri"/>
              </a:rPr>
              <a:t>✓  </a:t>
            </a:r>
            <a:r>
              <a:rPr sz="1100">
                <a:solidFill>
                  <a:srgbClr val="1A202C"/>
                </a:solidFill>
                <a:latin typeface="Calibri"/>
              </a:rPr>
              <a:t>Análisis de videos FST del laboratorio (vista lateral, 4 cilindros).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00C896"/>
                </a:solidFill>
                <a:latin typeface="Calibri"/>
              </a:rPr>
              <a:t>✓  </a:t>
            </a:r>
            <a:r>
              <a:rPr sz="1100">
                <a:solidFill>
                  <a:srgbClr val="1A202C"/>
                </a:solidFill>
                <a:latin typeface="Calibri"/>
              </a:rPr>
              <a:t>Clasificación de 3 conductas (nado, inmovilidad, escalamiento).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00C896"/>
                </a:solidFill>
                <a:latin typeface="Calibri"/>
              </a:rPr>
              <a:t>✓  </a:t>
            </a:r>
            <a:r>
              <a:rPr sz="1100">
                <a:solidFill>
                  <a:srgbClr val="1A202C"/>
                </a:solidFill>
                <a:latin typeface="Calibri"/>
              </a:rPr>
              <a:t>Fallback: si no se alcanza κ&gt;0.80, nado+escalamiento = 'conducta activa'.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00C896"/>
                </a:solidFill>
                <a:latin typeface="Calibri"/>
              </a:rPr>
              <a:t>✓  </a:t>
            </a:r>
            <a:r>
              <a:rPr sz="1100">
                <a:solidFill>
                  <a:srgbClr val="1A202C"/>
                </a:solidFill>
                <a:latin typeface="Calibri"/>
              </a:rPr>
              <a:t>Métricas por animal y sesión; desglose por minuto (opcional).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00C896"/>
                </a:solidFill>
                <a:latin typeface="Calibri"/>
              </a:rPr>
              <a:t>✓  </a:t>
            </a:r>
            <a:r>
              <a:rPr sz="1100">
                <a:solidFill>
                  <a:srgbClr val="1A202C"/>
                </a:solidFill>
                <a:latin typeface="Calibri"/>
              </a:rPr>
              <a:t>Comparación Día 1 vs. Día 2; reportes PDF/CSV.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00C896"/>
                </a:solidFill>
                <a:latin typeface="Calibri"/>
              </a:rPr>
              <a:t>✓  </a:t>
            </a:r>
            <a:r>
              <a:rPr sz="1100">
                <a:solidFill>
                  <a:srgbClr val="1A202C"/>
                </a:solidFill>
                <a:latin typeface="Calibri"/>
              </a:rPr>
              <a:t>Validación contra gold standard (κ de Cohen y MAE).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20040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200400"/>
            <a:ext cx="5029200" cy="502920"/>
          </a:xfrm>
          <a:prstGeom prst="rect">
            <a:avLst/>
          </a:prstGeom>
          <a:solidFill>
            <a:srgbClr val="E96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200400"/>
            <a:ext cx="5029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   ✕  Fuera del alcance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794760"/>
            <a:ext cx="4754880" cy="2468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96B37"/>
                </a:solidFill>
                <a:latin typeface="Calibri"/>
              </a:rPr>
              <a:t>✕  </a:t>
            </a:r>
            <a:r>
              <a:rPr sz="1100">
                <a:solidFill>
                  <a:srgbClr val="1A202C"/>
                </a:solidFill>
                <a:latin typeface="Calibri"/>
              </a:rPr>
              <a:t>Análisis en tiempo real sobre video en vivo.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96B37"/>
                </a:solidFill>
                <a:latin typeface="Calibri"/>
              </a:rPr>
              <a:t>✕  </a:t>
            </a:r>
            <a:r>
              <a:rPr sz="1100">
                <a:solidFill>
                  <a:srgbClr val="1A202C"/>
                </a:solidFill>
                <a:latin typeface="Calibri"/>
              </a:rPr>
              <a:t>Corrección automática de videos con mala iluminación.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96B37"/>
                </a:solidFill>
                <a:latin typeface="Calibri"/>
              </a:rPr>
              <a:t>✕  </a:t>
            </a:r>
            <a:r>
              <a:rPr sz="1100">
                <a:solidFill>
                  <a:srgbClr val="1A202C"/>
                </a:solidFill>
                <a:latin typeface="Calibri"/>
              </a:rPr>
              <a:t>Intervención con animales (lo hace el laboratorio bajo NOM-062).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96B37"/>
                </a:solidFill>
                <a:latin typeface="Calibri"/>
              </a:rPr>
              <a:t>✕  </a:t>
            </a:r>
            <a:r>
              <a:rPr sz="1100">
                <a:solidFill>
                  <a:srgbClr val="1A202C"/>
                </a:solidFill>
                <a:latin typeface="Calibri"/>
              </a:rPr>
              <a:t>Despliegue institucional definitivo (prototipo funcional).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96B37"/>
                </a:solidFill>
                <a:latin typeface="Calibri"/>
              </a:rPr>
              <a:t>✕  </a:t>
            </a:r>
            <a:r>
              <a:rPr sz="1100">
                <a:solidFill>
                  <a:srgbClr val="1A202C"/>
                </a:solidFill>
                <a:latin typeface="Calibri"/>
              </a:rPr>
              <a:t>Otros paradigmas (laberinto en cruz, campo abierto, etc.).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56539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TT 2026-B066  ·  ESCOM-IPN  ·  Sistema FST con 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B2447"/>
                </a:solidFill>
                <a:latin typeface="Georgia"/>
              </a:rPr>
              <a:t>Estado del Arte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EthoVision XT, ezTrack y la brecha abierta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365760"/>
            <a:ext cx="1463040" cy="32004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36576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 / 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325880"/>
            <a:ext cx="3337560" cy="0"/>
          </a:xfrm>
          <a:prstGeom prst="line">
            <a:avLst/>
          </a:prstGeom>
          <a:ln w="27940">
            <a:solidFill>
              <a:srgbClr val="00C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31520" y="1691640"/>
            <a:ext cx="2377440" cy="402336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2377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Sistema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691640"/>
            <a:ext cx="1188720" cy="402336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691640"/>
            <a:ext cx="118872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Esp. FST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691640"/>
            <a:ext cx="1188720" cy="402336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691640"/>
            <a:ext cx="118872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 cond.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1691640"/>
            <a:ext cx="914400" cy="402336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1691640"/>
            <a:ext cx="9144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691640"/>
            <a:ext cx="914400" cy="402336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691640"/>
            <a:ext cx="9144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1691640"/>
            <a:ext cx="1188720" cy="402336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1691640"/>
            <a:ext cx="118872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Abierto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1691640"/>
            <a:ext cx="1783080" cy="402336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1691640"/>
            <a:ext cx="17830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093976"/>
            <a:ext cx="237744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093976"/>
            <a:ext cx="2377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  <a:latin typeface="Calibri"/>
              </a:rPr>
              <a:t>EthoVision 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2093976"/>
            <a:ext cx="11887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2093976"/>
            <a:ext cx="118872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Parc.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2093976"/>
            <a:ext cx="11887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2093976"/>
            <a:ext cx="118872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2093976"/>
            <a:ext cx="9144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0" y="2093976"/>
            <a:ext cx="9144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093976"/>
            <a:ext cx="9144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2093976"/>
            <a:ext cx="9144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2093976"/>
            <a:ext cx="11887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2093976"/>
            <a:ext cx="118872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No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03920" y="2093976"/>
            <a:ext cx="178308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2093976"/>
            <a:ext cx="17830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2496312"/>
            <a:ext cx="2377440" cy="402336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2496312"/>
            <a:ext cx="2377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  <a:latin typeface="Calibri"/>
              </a:rPr>
              <a:t>ANY-maze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2496312"/>
            <a:ext cx="1188720" cy="402336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08960" y="2496312"/>
            <a:ext cx="118872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Parc.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0" y="2496312"/>
            <a:ext cx="1188720" cy="402336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97680" y="2496312"/>
            <a:ext cx="118872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No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2496312"/>
            <a:ext cx="914400" cy="402336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0" y="2496312"/>
            <a:ext cx="9144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No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2496312"/>
            <a:ext cx="914400" cy="402336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2496312"/>
            <a:ext cx="9144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No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0" y="2496312"/>
            <a:ext cx="1188720" cy="402336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0" y="2496312"/>
            <a:ext cx="118872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No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03920" y="2496312"/>
            <a:ext cx="1783080" cy="402336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03920" y="2496312"/>
            <a:ext cx="17830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No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898648"/>
            <a:ext cx="237744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2898648"/>
            <a:ext cx="2377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  <a:latin typeface="Calibri"/>
              </a:rPr>
              <a:t>ezTrack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08960" y="2898648"/>
            <a:ext cx="11887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08960" y="2898648"/>
            <a:ext cx="118872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Parc.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97680" y="2898648"/>
            <a:ext cx="11887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97680" y="2898648"/>
            <a:ext cx="118872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No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0" y="2898648"/>
            <a:ext cx="9144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0" y="2898648"/>
            <a:ext cx="9144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No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2898648"/>
            <a:ext cx="9144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0" y="2898648"/>
            <a:ext cx="9144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No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0" y="2898648"/>
            <a:ext cx="11887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0" y="2898648"/>
            <a:ext cx="118872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Sí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03920" y="2898648"/>
            <a:ext cx="178308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03920" y="2898648"/>
            <a:ext cx="17830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No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1520" y="3300984"/>
            <a:ext cx="2377440" cy="402336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3300984"/>
            <a:ext cx="2377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  <a:latin typeface="Calibri"/>
              </a:rPr>
              <a:t>DBscorer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08960" y="3300984"/>
            <a:ext cx="1188720" cy="402336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108960" y="3300984"/>
            <a:ext cx="118872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Sí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97680" y="3300984"/>
            <a:ext cx="1188720" cy="402336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97680" y="3300984"/>
            <a:ext cx="118872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No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0" y="3300984"/>
            <a:ext cx="914400" cy="402336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0" y="3300984"/>
            <a:ext cx="9144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No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00800" y="3300984"/>
            <a:ext cx="914400" cy="402336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0" y="3300984"/>
            <a:ext cx="9144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No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315200" y="3300984"/>
            <a:ext cx="1188720" cy="402336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15200" y="3300984"/>
            <a:ext cx="118872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Sí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03920" y="3300984"/>
            <a:ext cx="1783080" cy="402336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03920" y="3300984"/>
            <a:ext cx="17830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No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31520" y="3703320"/>
            <a:ext cx="237744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377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  <a:latin typeface="Calibri"/>
              </a:rPr>
              <a:t>DSAAN (2024)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108960" y="3703320"/>
            <a:ext cx="11887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108960" y="3703320"/>
            <a:ext cx="118872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Sí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297680" y="3703320"/>
            <a:ext cx="11887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297680" y="3703320"/>
            <a:ext cx="118872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No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86400" y="3703320"/>
            <a:ext cx="9144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486400" y="3703320"/>
            <a:ext cx="9144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Sí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00800" y="3703320"/>
            <a:ext cx="9144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00800" y="3703320"/>
            <a:ext cx="9144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No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0" y="3703320"/>
            <a:ext cx="11887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315200" y="3703320"/>
            <a:ext cx="118872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No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503920" y="3703320"/>
            <a:ext cx="178308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503920" y="3703320"/>
            <a:ext cx="17830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No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31520" y="4105656"/>
            <a:ext cx="2377440" cy="402336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31520" y="4105656"/>
            <a:ext cx="2377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  <a:latin typeface="Calibri"/>
              </a:rPr>
              <a:t>3D-RCNN (2025)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108960" y="4105656"/>
            <a:ext cx="1188720" cy="402336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108960" y="4105656"/>
            <a:ext cx="118872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Sí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297680" y="4105656"/>
            <a:ext cx="1188720" cy="402336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297680" y="4105656"/>
            <a:ext cx="118872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Sí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486400" y="4105656"/>
            <a:ext cx="914400" cy="402336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486400" y="4105656"/>
            <a:ext cx="9144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Sí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400800" y="4105656"/>
            <a:ext cx="914400" cy="402336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400800" y="4105656"/>
            <a:ext cx="9144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No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315200" y="4105656"/>
            <a:ext cx="1188720" cy="402336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315200" y="4105656"/>
            <a:ext cx="118872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No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503920" y="4105656"/>
            <a:ext cx="1783080" cy="402336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503920" y="4105656"/>
            <a:ext cx="17830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No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31520" y="4507992"/>
            <a:ext cx="237744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31520" y="4507992"/>
            <a:ext cx="2377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202C"/>
                </a:solidFill>
                <a:latin typeface="Calibri"/>
              </a:rPr>
              <a:t>DeepLabCut + clf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108960" y="4507992"/>
            <a:ext cx="11887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108960" y="4507992"/>
            <a:ext cx="118872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Parc.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297680" y="4507992"/>
            <a:ext cx="11887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297680" y="4507992"/>
            <a:ext cx="118872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Parc.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486400" y="4507992"/>
            <a:ext cx="9144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486400" y="4507992"/>
            <a:ext cx="9144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Sí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400800" y="4507992"/>
            <a:ext cx="9144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400800" y="4507992"/>
            <a:ext cx="9144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No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315200" y="4507992"/>
            <a:ext cx="11887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315200" y="4507992"/>
            <a:ext cx="118872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Sí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503920" y="4507992"/>
            <a:ext cx="178308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503920" y="4507992"/>
            <a:ext cx="17830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1A202C"/>
                </a:solidFill>
                <a:latin typeface="Calibri"/>
              </a:rPr>
              <a:t>No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31520" y="4910328"/>
            <a:ext cx="2377440" cy="402336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31520" y="4910328"/>
            <a:ext cx="2377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Propuesta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108960" y="4910328"/>
            <a:ext cx="1188720" cy="402336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108960" y="4910328"/>
            <a:ext cx="118872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Sí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297680" y="4910328"/>
            <a:ext cx="1188720" cy="402336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297680" y="4910328"/>
            <a:ext cx="118872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Sí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486400" y="4910328"/>
            <a:ext cx="914400" cy="402336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486400" y="4910328"/>
            <a:ext cx="9144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Sí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400800" y="4910328"/>
            <a:ext cx="914400" cy="402336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400800" y="4910328"/>
            <a:ext cx="91440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Sí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315200" y="4910328"/>
            <a:ext cx="1188720" cy="402336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315200" y="4910328"/>
            <a:ext cx="118872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Sí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503920" y="4910328"/>
            <a:ext cx="1783080" cy="402336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503920" y="4910328"/>
            <a:ext cx="17830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ByteTrack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31520" y="5541264"/>
            <a:ext cx="10728655" cy="822960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31520" y="5541264"/>
            <a:ext cx="82296" cy="822960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60120" y="5650992"/>
            <a:ext cx="1045433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0C896"/>
                </a:solidFill>
                <a:latin typeface="Calibri"/>
              </a:rPr>
              <a:t>La brecha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60120" y="5925312"/>
            <a:ext cx="1045433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Las comerciales no son abiertas ni distinguen las 3 conductas. Las abiertas no usan DL ni tienen web. Los trabajos DL recientes no se distribuyen como sistema desplegable.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02920" y="656539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TT 2026-B066  ·  ESCOM-IPN  ·  Sistema FST con IA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B2447"/>
                </a:solidFill>
                <a:latin typeface="Georgia"/>
              </a:rPr>
              <a:t>Marco Teórico Conductual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Paradigma FST: tres conductas mutuamente excluyentes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365760"/>
            <a:ext cx="1463040" cy="32004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36576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 / 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325880"/>
            <a:ext cx="3337560" cy="0"/>
          </a:xfrm>
          <a:prstGeom prst="line">
            <a:avLst/>
          </a:prstGeom>
          <a:ln w="27940">
            <a:solidFill>
              <a:srgbClr val="00C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1554480"/>
            <a:ext cx="1072865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1A202C"/>
                </a:solidFill>
                <a:latin typeface="Calibri"/>
              </a:rPr>
              <a:t>Cada conducta refleja un sistema neurotransmisor distinto. Distinguirlas permite inferir sobre qué mecanismo actúa el fármaco evaluado.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287" y="2240280"/>
            <a:ext cx="356616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287" y="2240280"/>
            <a:ext cx="3566160" cy="54864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287" y="2240280"/>
            <a:ext cx="3566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Georgia"/>
              </a:rPr>
              <a:t>Inmovilidad</a:t>
            </a:r>
          </a:p>
        </p:txBody>
      </p:sp>
      <p:sp>
        <p:nvSpPr>
          <p:cNvPr id="13" name="Oval 12"/>
          <p:cNvSpPr/>
          <p:nvPr/>
        </p:nvSpPr>
        <p:spPr>
          <a:xfrm>
            <a:off x="1752447" y="2971800"/>
            <a:ext cx="1005840" cy="100584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52447" y="2971800"/>
            <a:ext cx="10058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1" i="0">
                <a:solidFill>
                  <a:srgbClr val="0B2447"/>
                </a:solidFill>
                <a:latin typeface="Georgia"/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887" y="4160520"/>
            <a:ext cx="3108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A202C"/>
                </a:solidFill>
                <a:latin typeface="Calibri"/>
              </a:rPr>
              <a:t>El animal flota con lo mínimo para no hundirse.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887" y="4800600"/>
            <a:ext cx="310896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Indicador principal de desesperanza conductual.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2767" y="2240280"/>
            <a:ext cx="356616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2767" y="2240280"/>
            <a:ext cx="3566160" cy="548640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2767" y="2240280"/>
            <a:ext cx="3566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Georgia"/>
              </a:rPr>
              <a:t>Nado activo</a:t>
            </a:r>
          </a:p>
        </p:txBody>
      </p:sp>
      <p:sp>
        <p:nvSpPr>
          <p:cNvPr id="20" name="Oval 19"/>
          <p:cNvSpPr/>
          <p:nvPr/>
        </p:nvSpPr>
        <p:spPr>
          <a:xfrm>
            <a:off x="5592927" y="2971800"/>
            <a:ext cx="1005840" cy="100584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92927" y="2971800"/>
            <a:ext cx="10058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1" i="0">
                <a:solidFill>
                  <a:srgbClr val="576CBC"/>
                </a:solidFill>
                <a:latin typeface="Georgia"/>
              </a:rPr>
              <a:t>II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1367" y="4160520"/>
            <a:ext cx="3108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A202C"/>
                </a:solidFill>
                <a:latin typeface="Calibri"/>
              </a:rPr>
              <a:t>Paladas que desplazan al animal horizontalmente.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367" y="4800600"/>
            <a:ext cx="310896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Asociado al sistema serotoninérgico (ISRS, fluoxetina).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53247" y="2240280"/>
            <a:ext cx="356616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53247" y="2240280"/>
            <a:ext cx="3566160" cy="548640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3247" y="2240280"/>
            <a:ext cx="3566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Georgia"/>
              </a:rPr>
              <a:t>Intentos de escape</a:t>
            </a:r>
          </a:p>
        </p:txBody>
      </p:sp>
      <p:sp>
        <p:nvSpPr>
          <p:cNvPr id="27" name="Oval 26"/>
          <p:cNvSpPr/>
          <p:nvPr/>
        </p:nvSpPr>
        <p:spPr>
          <a:xfrm>
            <a:off x="9433407" y="2971800"/>
            <a:ext cx="1005840" cy="100584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33407" y="2971800"/>
            <a:ext cx="10058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00" b="1" i="0">
                <a:solidFill>
                  <a:srgbClr val="00C896"/>
                </a:solidFill>
                <a:latin typeface="Georgia"/>
              </a:rPr>
              <a:t>III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1847" y="4160520"/>
            <a:ext cx="3108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A202C"/>
                </a:solidFill>
                <a:latin typeface="Calibri"/>
              </a:rPr>
              <a:t>Movimientos rápidos hacia las paredes del cilindro.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1847" y="4800600"/>
            <a:ext cx="310896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Asociado al sistema noradrenérgico (desipramina).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56539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TT 2026-B066  ·  ESCOM-IPN  ·  Sistema FST con 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B2447"/>
                </a:solidFill>
                <a:latin typeface="Georgia"/>
              </a:rPr>
              <a:t>Marco Teórico de Visión y Aprendizaje Profundo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Sustracción de fondo · ByteTrack · ResNet-18 · Transfer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365760"/>
            <a:ext cx="1463040" cy="32004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36576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 / 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325880"/>
            <a:ext cx="3337560" cy="0"/>
          </a:xfrm>
          <a:prstGeom prst="line">
            <a:avLst/>
          </a:prstGeom>
          <a:ln w="27940">
            <a:solidFill>
              <a:srgbClr val="00C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63727" y="1600200"/>
            <a:ext cx="539496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3727" y="1600200"/>
            <a:ext cx="109728" cy="214884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3455" y="1600200"/>
            <a:ext cx="5285232" cy="4572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047" y="1600200"/>
            <a:ext cx="50749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Sustracción de fondo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047" y="2194560"/>
            <a:ext cx="498348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alibri"/>
              </a:rPr>
              <a:t>Modelo del fondo por mediana pixel a pixel de los primeros N cuadros. CLAHE corrige contraste; morfología (apertura) elimina ruido tras el umbral.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600200"/>
            <a:ext cx="539496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600200"/>
            <a:ext cx="109728" cy="2148840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42735" y="1600200"/>
            <a:ext cx="5285232" cy="457200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7327" y="1600200"/>
            <a:ext cx="50749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ByteTrack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7" y="2194560"/>
            <a:ext cx="498348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alibri"/>
              </a:rPr>
              <a:t>Rastreo multi-objeto con filtro de Kalman y asociación en dos pasos: detecciones de alta confianza (s ≥ τ_high) y luego las de baja (τ_low ≤ s &lt; τ_high) para recuperar trayectorias en oclusiones.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3727" y="3931920"/>
            <a:ext cx="539496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3727" y="3931920"/>
            <a:ext cx="109728" cy="2148840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3455" y="3931920"/>
            <a:ext cx="5285232" cy="457200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047" y="3931920"/>
            <a:ext cx="50749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ResNet-18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047" y="4526280"/>
            <a:ext cx="498348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alibri"/>
              </a:rPr>
              <a:t>Red residual con conexiones de salto que aprenden F(x)=H(x)−x. El gradiente fluye sin atenuación, habilita redes profundas. ResNet-18 balancea precisión e inferencia rápida.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3931920"/>
            <a:ext cx="539496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3007" y="3931920"/>
            <a:ext cx="109728" cy="2148840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42735" y="3931920"/>
            <a:ext cx="5285232" cy="457200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7327" y="3931920"/>
            <a:ext cx="50749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Transfer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7327" y="4526280"/>
            <a:ext cx="498348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alibri"/>
              </a:rPr>
              <a:t>Partimos de ImageNet (≈1M imágenes, 1000 clases); congelamos las capas iniciales y reentrenamos solo la capa final con 3 salidas (una por conducta) usando cuadros etiquetados en BORIS.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6539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TT 2026-B066  ·  ESCOM-IPN  ·  Sistema FST con 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B2447"/>
                </a:solidFill>
                <a:latin typeface="Georgia"/>
              </a:rPr>
              <a:t>Metodología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Enfoque ágil Scrum · distribución por integrante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365760"/>
            <a:ext cx="1463040" cy="32004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36576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 / 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325880"/>
            <a:ext cx="3337560" cy="0"/>
          </a:xfrm>
          <a:prstGeom prst="line">
            <a:avLst/>
          </a:prstGeom>
          <a:ln w="27940">
            <a:solidFill>
              <a:srgbClr val="00C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31520" y="1600200"/>
            <a:ext cx="548640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00200"/>
            <a:ext cx="5486400" cy="54864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5486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  Flujo iterativo por sprints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286000"/>
            <a:ext cx="5120640" cy="7315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286000"/>
            <a:ext cx="91440" cy="731520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359152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2447"/>
                </a:solidFill>
                <a:latin typeface="Calibri"/>
              </a:rPr>
              <a:t>Backlog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651760"/>
            <a:ext cx="484632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RF/RNF priorizados por riesgo técnico.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108960"/>
            <a:ext cx="5120640" cy="7315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108960"/>
            <a:ext cx="91440" cy="731520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182112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2447"/>
                </a:solidFill>
                <a:latin typeface="Calibri"/>
              </a:rPr>
              <a:t>Sprint 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474720"/>
            <a:ext cx="484632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Incremento entregable cada 2 semanas.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931920"/>
            <a:ext cx="5120640" cy="7315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931920"/>
            <a:ext cx="91440" cy="731520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005072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2447"/>
                </a:solidFill>
                <a:latin typeface="Calibri"/>
              </a:rPr>
              <a:t>Daily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297680"/>
            <a:ext cx="484632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Sincronización breve; desbloqueo temprano.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754880"/>
            <a:ext cx="5120640" cy="7315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754880"/>
            <a:ext cx="91440" cy="731520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828032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2447"/>
                </a:solidFill>
                <a:latin typeface="Calibri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120640"/>
            <a:ext cx="484632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Demostración con el director y laboratorio.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5577840"/>
            <a:ext cx="5120640" cy="7315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" y="5577840"/>
            <a:ext cx="91440" cy="731520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650992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2447"/>
                </a:solidFill>
                <a:latin typeface="Calibri"/>
              </a:rPr>
              <a:t>Retrospectiva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943600"/>
            <a:ext cx="484632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Ajuste de criterios y estimación.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600200"/>
            <a:ext cx="512064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1600200"/>
            <a:ext cx="5120640" cy="548640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1600200"/>
            <a:ext cx="5120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  Distribución por integrante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2286000"/>
            <a:ext cx="4754880" cy="13258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0" y="2286000"/>
            <a:ext cx="91440" cy="1325880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2359152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2447"/>
                </a:solidFill>
                <a:latin typeface="Calibri"/>
              </a:rPr>
              <a:t>Frausto Robles Ángel Ali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2724912"/>
            <a:ext cx="44805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alibri"/>
              </a:rPr>
              <a:t>Pipeline de visión, detección YOLOv8, ByteTrack, clasificador ResNet-18, pruebas de κ/MAE.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3703320"/>
            <a:ext cx="4754880" cy="13258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0" y="3703320"/>
            <a:ext cx="91440" cy="1325880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3776472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2447"/>
                </a:solidFill>
                <a:latin typeface="Calibri"/>
              </a:rPr>
              <a:t>Rodríguez Verdín Sandoval Vanesa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4142231"/>
            <a:ext cx="44805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alibri"/>
              </a:rPr>
              <a:t>Plataforma web Flask + React, modelado de BD, worker asíncrono, dashboard y reportes.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5120640"/>
            <a:ext cx="4754880" cy="13258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0" y="5120640"/>
            <a:ext cx="91440" cy="1325880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0" y="5193792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2447"/>
                </a:solidFill>
                <a:latin typeface="Calibri"/>
              </a:rPr>
              <a:t>Trabajo conjunto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559552"/>
            <a:ext cx="448056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alibri"/>
              </a:rPr>
              <a:t>Análisis de requisitos, diseño de arquitectura, integración end-to-end y documentación.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56539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TT 2026-B066  ·  ESCOM-IPN  ·  Sistema FST con IA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B2447"/>
                </a:solidFill>
                <a:latin typeface="Georgia"/>
              </a:rPr>
              <a:t>Requerimientos funcionales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29 RF organizados por módulos del sistema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365760"/>
            <a:ext cx="1463040" cy="32004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36576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 / 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325880"/>
            <a:ext cx="3337560" cy="0"/>
          </a:xfrm>
          <a:prstGeom prst="line">
            <a:avLst/>
          </a:prstGeom>
          <a:ln w="27940">
            <a:solidFill>
              <a:srgbClr val="00C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44855" y="16459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4855" y="1645920"/>
            <a:ext cx="3657600" cy="4572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2015" y="164592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Autenticación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6535" y="1645920"/>
            <a:ext cx="1572768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1" i="0">
                <a:solidFill>
                  <a:srgbClr val="CADCFC"/>
                </a:solidFill>
                <a:latin typeface="Calibri"/>
              </a:rPr>
              <a:t>RF-01 → RF-04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015" y="2148840"/>
            <a:ext cx="3429000" cy="1737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0B2447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Login con @ipn.mx · logout JWT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0B2447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Recuperación y primer cambio de contraseña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0B2447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Roles: Investigador / Administrador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7047" y="16459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7047" y="1645920"/>
            <a:ext cx="3657600" cy="457200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4207" y="164592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Gestión de usuarios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645920"/>
            <a:ext cx="1572768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1" i="0">
                <a:solidFill>
                  <a:srgbClr val="CADCFC"/>
                </a:solidFill>
                <a:latin typeface="Calibri"/>
              </a:rPr>
              <a:t>RF-05 → RF-07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4207" y="2148840"/>
            <a:ext cx="3429000" cy="1737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19376D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Admin: crear, modificar, desactivar cuentas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19376D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Investigador: actualizar perfil propio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9239" y="16459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9239" y="1645920"/>
            <a:ext cx="3657600" cy="457200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6399" y="164592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Carga de video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00919" y="1645920"/>
            <a:ext cx="1572768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1" i="0">
                <a:solidFill>
                  <a:srgbClr val="CADCFC"/>
                </a:solidFill>
                <a:latin typeface="Calibri"/>
              </a:rPr>
              <a:t>RF-08 → RF-12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399" y="2148840"/>
            <a:ext cx="3429000" cy="1737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576CBC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Solo .mp4 · hasta 2 videos (DAY1/DAY2)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576CBC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Validación cliente+servidor · metadatos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576CBC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Encolado automático tras carga exitosa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4855" y="4096512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4855" y="4096512"/>
            <a:ext cx="3657600" cy="457200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015" y="4096512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Análisis conductual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56535" y="4096512"/>
            <a:ext cx="1572768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1" i="0">
                <a:solidFill>
                  <a:srgbClr val="CADCFC"/>
                </a:solidFill>
                <a:latin typeface="Calibri"/>
              </a:rPr>
              <a:t>RF-13 → RF-17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2015" y="4599432"/>
            <a:ext cx="3429000" cy="1737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00C896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Pipeline 4 etapas · progreso en tiempo real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00C896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Detección de cilindros (conf. ≥ 0.70)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00C896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Clasificación frame-a-frame mutuamente excluyente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00C896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Reporte de error con PDF de diagnóstico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67047" y="4096512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67047" y="4096512"/>
            <a:ext cx="3657600" cy="457200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04207" y="4096512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Resultados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8727" y="4096512"/>
            <a:ext cx="1572768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1" i="0">
                <a:solidFill>
                  <a:srgbClr val="CADCFC"/>
                </a:solidFill>
                <a:latin typeface="Calibri"/>
              </a:rPr>
              <a:t>RF-18 → RF-21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4207" y="4599432"/>
            <a:ext cx="3429000" cy="1737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576CBC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Tiempo y % por conducta y animal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576CBC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Desglose por minuto · comparación DAY1 vs DAY2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576CBC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Exportación PDF y CSV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89239" y="4096512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89239" y="4096512"/>
            <a:ext cx="3657600" cy="457200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6399" y="4096512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Dashboard y administración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00919" y="4096512"/>
            <a:ext cx="1572768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1" i="0">
                <a:solidFill>
                  <a:srgbClr val="CADCFC"/>
                </a:solidFill>
                <a:latin typeface="Calibri"/>
              </a:rPr>
              <a:t>RF-22 → RF-29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6399" y="4599432"/>
            <a:ext cx="3429000" cy="1737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19376D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Listado de experimentos y estado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19376D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Avisos de expiración · borrado a 30 días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1">
                <a:solidFill>
                  <a:srgbClr val="19376D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Admin: monitorear disco, cola, análisis activos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56539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TT 2026-B066  ·  ESCOM-IPN  ·  Sistema FST con 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B2447"/>
                </a:solidFill>
                <a:latin typeface="Georgia"/>
              </a:rPr>
              <a:t>Requerimientos no funcionales y reglas de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Atributos ISO 25010 · lógica del protocolo experimental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365760"/>
            <a:ext cx="1463040" cy="32004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36576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 / 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325880"/>
            <a:ext cx="3337560" cy="0"/>
          </a:xfrm>
          <a:prstGeom prst="line">
            <a:avLst/>
          </a:prstGeom>
          <a:ln w="27940">
            <a:solidFill>
              <a:srgbClr val="00C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31520" y="1600200"/>
            <a:ext cx="548640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00200"/>
            <a:ext cx="5486400" cy="50292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5486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  RNF · 13 atributos de calidad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Rendimiento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50591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Navegación &lt; 3 s (p95) · umbral de análisis por minuto de video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761488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Disponibilidad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17520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95 % en horario laboral L-V 8–20h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28416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Seguridad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84448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JWT · bcrypt+salt · aislamiento por usuario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95344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Usabilidad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51376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Investigador sin experiencia completa flujo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62272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Compatibilidad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18304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Chrome, Firefox y Edge actuales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Portabilidad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85232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Despliegue único con Docker Compose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96128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Mantenibilidad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852160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PEP-8 · ESLint · documentación por módulo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600200"/>
            <a:ext cx="512064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1600200"/>
            <a:ext cx="5120640" cy="502920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600200"/>
            <a:ext cx="51206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  Reglas de negocio · 13 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194560"/>
            <a:ext cx="4846320" cy="4114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>
                <a:solidFill>
                  <a:srgbClr val="E96B37"/>
                </a:solidFill>
                <a:latin typeface="Calibri"/>
              </a:rPr>
              <a:t>•  </a:t>
            </a:r>
            <a:r>
              <a:rPr sz="950">
                <a:solidFill>
                  <a:srgbClr val="1A202C"/>
                </a:solidFill>
                <a:latin typeface="Calibri"/>
              </a:rPr>
              <a:t>RN-01 · Error de credenciales genérico.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>
                <a:solidFill>
                  <a:srgbClr val="E96B37"/>
                </a:solidFill>
                <a:latin typeface="Calibri"/>
              </a:rPr>
              <a:t>•  </a:t>
            </a:r>
            <a:r>
              <a:rPr sz="950">
                <a:solidFill>
                  <a:srgbClr val="1A202C"/>
                </a:solidFill>
                <a:latin typeface="Calibri"/>
              </a:rPr>
              <a:t>RN-02 · Video único por experimento.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>
                <a:solidFill>
                  <a:srgbClr val="E96B37"/>
                </a:solidFill>
                <a:latin typeface="Calibri"/>
              </a:rPr>
              <a:t>•  </a:t>
            </a:r>
            <a:r>
              <a:rPr sz="950">
                <a:solidFill>
                  <a:srgbClr val="1A202C"/>
                </a:solidFill>
                <a:latin typeface="Calibri"/>
              </a:rPr>
              <a:t>RN-03 · Máximo 2 videos (DAY1 + DAY2).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>
                <a:solidFill>
                  <a:srgbClr val="E96B37"/>
                </a:solidFill>
                <a:latin typeface="Calibri"/>
              </a:rPr>
              <a:t>•  </a:t>
            </a:r>
            <a:r>
              <a:rPr sz="950">
                <a:solidFill>
                  <a:srgbClr val="1A202C"/>
                </a:solidFill>
                <a:latin typeface="Calibri"/>
              </a:rPr>
              <a:t>RN-04 · Análisis iniciado por el sistema.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>
                <a:solidFill>
                  <a:srgbClr val="E96B37"/>
                </a:solidFill>
                <a:latin typeface="Calibri"/>
              </a:rPr>
              <a:t>•  </a:t>
            </a:r>
            <a:r>
              <a:rPr sz="950">
                <a:solidFill>
                  <a:srgbClr val="1A202C"/>
                </a:solidFill>
                <a:latin typeface="Calibri"/>
              </a:rPr>
              <a:t>RN-05 · Video borrado a 30 días + aviso 7 días.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>
                <a:solidFill>
                  <a:srgbClr val="E96B37"/>
                </a:solidFill>
                <a:latin typeface="Calibri"/>
              </a:rPr>
              <a:t>•  </a:t>
            </a:r>
            <a:r>
              <a:rPr sz="950">
                <a:solidFill>
                  <a:srgbClr val="1A202C"/>
                </a:solidFill>
                <a:latin typeface="Calibri"/>
              </a:rPr>
              <a:t>RN-06 · Resultados persistentes indefinidamente.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>
                <a:solidFill>
                  <a:srgbClr val="E96B37"/>
                </a:solidFill>
                <a:latin typeface="Calibri"/>
              </a:rPr>
              <a:t>•  </a:t>
            </a:r>
            <a:r>
              <a:rPr sz="950">
                <a:solidFill>
                  <a:srgbClr val="1A202C"/>
                </a:solidFill>
                <a:latin typeface="Calibri"/>
              </a:rPr>
              <a:t>RN-07 · Una conducta por cuadro por animal.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>
                <a:solidFill>
                  <a:srgbClr val="E96B37"/>
                </a:solidFill>
                <a:latin typeface="Calibri"/>
              </a:rPr>
              <a:t>•  </a:t>
            </a:r>
            <a:r>
              <a:rPr sz="950">
                <a:solidFill>
                  <a:srgbClr val="1A202C"/>
                </a:solidFill>
                <a:latin typeface="Calibri"/>
              </a:rPr>
              <a:t>RN-08 · Investigador ve lo propio · Admin ve todo.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>
                <a:solidFill>
                  <a:srgbClr val="E96B37"/>
                </a:solidFill>
                <a:latin typeface="Calibri"/>
              </a:rPr>
              <a:t>•  </a:t>
            </a:r>
            <a:r>
              <a:rPr sz="950">
                <a:solidFill>
                  <a:srgbClr val="1A202C"/>
                </a:solidFill>
                <a:latin typeface="Calibri"/>
              </a:rPr>
              <a:t>RN-09 · Eliminación permanente con confirmación.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>
                <a:solidFill>
                  <a:srgbClr val="E96B37"/>
                </a:solidFill>
                <a:latin typeface="Calibri"/>
              </a:rPr>
              <a:t>•  </a:t>
            </a:r>
            <a:r>
              <a:rPr sz="950">
                <a:solidFill>
                  <a:srgbClr val="1A202C"/>
                </a:solidFill>
                <a:latin typeface="Calibri"/>
              </a:rPr>
              <a:t>RN-10 · Rechazo de no-MP4 en cliente.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>
                <a:solidFill>
                  <a:srgbClr val="E96B37"/>
                </a:solidFill>
                <a:latin typeface="Calibri"/>
              </a:rPr>
              <a:t>•  </a:t>
            </a:r>
            <a:r>
              <a:rPr sz="950">
                <a:solidFill>
                  <a:srgbClr val="1A202C"/>
                </a:solidFill>
                <a:latin typeface="Calibri"/>
              </a:rPr>
              <a:t>RN-11 · Detección de cilindros con conf. ≥ 0.70.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>
                <a:solidFill>
                  <a:srgbClr val="E96B37"/>
                </a:solidFill>
                <a:latin typeface="Calibri"/>
              </a:rPr>
              <a:t>•  </a:t>
            </a:r>
            <a:r>
              <a:rPr sz="950">
                <a:solidFill>
                  <a:srgbClr val="1A202C"/>
                </a:solidFill>
                <a:latin typeface="Calibri"/>
              </a:rPr>
              <a:t>RN-12 · DAY1/DAY2 comparables solo si ambos exitosos.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>
                <a:solidFill>
                  <a:srgbClr val="E96B37"/>
                </a:solidFill>
                <a:latin typeface="Calibri"/>
              </a:rPr>
              <a:t>•  </a:t>
            </a:r>
            <a:r>
              <a:rPr sz="950">
                <a:solidFill>
                  <a:srgbClr val="1A202C"/>
                </a:solidFill>
                <a:latin typeface="Calibri"/>
              </a:rPr>
              <a:t>RN-13 · Si κ ≤ 0.80 → fallback 'conducta activa'.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56539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TT 2026-B066  ·  ESCOM-IPN  ·  Sistema FST con 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B2447"/>
                </a:solidFill>
                <a:latin typeface="Georgia"/>
              </a:rPr>
              <a:t>Análisis de Riesgos y Factibilidad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Mitigación de calidad · factibilidad técnica y económica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365760"/>
            <a:ext cx="1463040" cy="32004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36576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 / 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325880"/>
            <a:ext cx="3337560" cy="0"/>
          </a:xfrm>
          <a:prstGeom prst="line">
            <a:avLst/>
          </a:prstGeom>
          <a:ln w="27940">
            <a:solidFill>
              <a:srgbClr val="00C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150876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B2447"/>
                </a:solidFill>
                <a:latin typeface="Calibri"/>
              </a:rPr>
              <a:t>Riesgos principales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10607040" cy="4572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828800"/>
            <a:ext cx="62179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Descripción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828800"/>
            <a:ext cx="10972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Nivel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19" y="182880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Mitigación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286000"/>
            <a:ext cx="106070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286000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2447"/>
                </a:solidFill>
                <a:latin typeface="Calibri"/>
              </a:rPr>
              <a:t>R-01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286000"/>
            <a:ext cx="61264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Videos con reflejos o pelaje claro (conf. &lt; 0.70).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2359152"/>
            <a:ext cx="868680" cy="310896"/>
          </a:xfrm>
          <a:prstGeom prst="roundRect">
            <a:avLst/>
          </a:prstGeom>
          <a:solidFill>
            <a:srgbClr val="E96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2359152"/>
            <a:ext cx="86868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Alto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28600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  <a:latin typeface="Calibri"/>
              </a:rPr>
              <a:t>CLAHE · reporte de diagnóstico (RN-11).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743200"/>
            <a:ext cx="10607040" cy="4572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743200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2447"/>
                </a:solidFill>
                <a:latin typeface="Calibri"/>
              </a:rPr>
              <a:t>R-02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2743200"/>
            <a:ext cx="61264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Dataset insuficiente para κ &gt; 0.80.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2816352"/>
            <a:ext cx="868680" cy="310896"/>
          </a:xfrm>
          <a:prstGeom prst="roundRect">
            <a:avLst/>
          </a:prstGeom>
          <a:solidFill>
            <a:srgbClr val="E96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2816352"/>
            <a:ext cx="86868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Alto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74320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  <a:latin typeface="Calibri"/>
              </a:rPr>
              <a:t>BORIS · data augmentation · fallback.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200400"/>
            <a:ext cx="106070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200400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2447"/>
                </a:solidFill>
                <a:latin typeface="Calibri"/>
              </a:rPr>
              <a:t>R-03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3200400"/>
            <a:ext cx="61264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Laboratorio no entrega registros a tiempo.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79" y="3273552"/>
            <a:ext cx="868680" cy="310896"/>
          </a:xfrm>
          <a:prstGeom prst="roundRect">
            <a:avLst/>
          </a:prstGeom>
          <a:solidFill>
            <a:srgbClr val="57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3273552"/>
            <a:ext cx="86868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Medio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20040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  <a:latin typeface="Calibri"/>
              </a:rPr>
              <a:t>Calendario pactado · anotación anticipada.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657600"/>
            <a:ext cx="10607040" cy="4572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3657600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2447"/>
                </a:solidFill>
                <a:latin typeface="Calibri"/>
              </a:rPr>
              <a:t>R-04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3657600"/>
            <a:ext cx="61264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Tiempo de análisis excede lo aceptable.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79" y="3730752"/>
            <a:ext cx="868680" cy="310896"/>
          </a:xfrm>
          <a:prstGeom prst="roundRect">
            <a:avLst/>
          </a:prstGeom>
          <a:solidFill>
            <a:srgbClr val="57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79" y="3730752"/>
            <a:ext cx="86868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Medio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365760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  <a:latin typeface="Calibri"/>
              </a:rPr>
              <a:t>Medir por etapa · GPU opcional.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114800"/>
            <a:ext cx="106070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114800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2447"/>
                </a:solidFill>
                <a:latin typeface="Calibri"/>
              </a:rPr>
              <a:t>R-05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45920" y="4114800"/>
            <a:ext cx="61264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Integración cola asíncrona compleja.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55279" y="4187952"/>
            <a:ext cx="868680" cy="310896"/>
          </a:xfrm>
          <a:prstGeom prst="roundRect">
            <a:avLst/>
          </a:prstGeom>
          <a:solidFill>
            <a:srgbClr val="57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79" y="4187952"/>
            <a:ext cx="86868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Medio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411480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  <a:latin typeface="Calibri"/>
              </a:rPr>
              <a:t>Contratos API · pruebas end-to-end.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4709160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B2447"/>
                </a:solidFill>
                <a:latin typeface="Calibri"/>
              </a:rPr>
              <a:t>Factibilidad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6567" y="5029200"/>
            <a:ext cx="36576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6567" y="5029200"/>
            <a:ext cx="91440" cy="118872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9447" y="5102352"/>
            <a:ext cx="33832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2447"/>
                </a:solidFill>
                <a:latin typeface="Calibri"/>
              </a:rPr>
              <a:t>Técnica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447" y="5394960"/>
            <a:ext cx="33832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Todo el stack es código abierto y maduro: OpenCV, YOLOv8, PyTorch, Flask, PostgreSQL.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67047" y="5029200"/>
            <a:ext cx="36576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67047" y="5029200"/>
            <a:ext cx="91440" cy="1188720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49927" y="5102352"/>
            <a:ext cx="33832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0C896"/>
                </a:solidFill>
                <a:latin typeface="Calibri"/>
              </a:rPr>
              <a:t>Económica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49927" y="5394960"/>
            <a:ext cx="33832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Costo de licencias: $0. Solo requiere máquina con CPU moderna; GPU opcional.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07527" y="5029200"/>
            <a:ext cx="36576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107527" y="5029200"/>
            <a:ext cx="91440" cy="1188720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90407" y="5102352"/>
            <a:ext cx="33832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576CBC"/>
                </a:solidFill>
                <a:latin typeface="Calibri"/>
              </a:rPr>
              <a:t>Operativa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90407" y="5394960"/>
            <a:ext cx="33832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Despliegue con Docker Compose en el equipo del laboratorio; no requiere infraestructura nueva.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656539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TT 2026-B066  ·  ESCOM-IPN  ·  Sistema FST con IA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B2447"/>
                </a:solidFill>
                <a:latin typeface="Georgia"/>
              </a:rPr>
              <a:t>Diseño de 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Cliente-servidor · API REST · procesamiento asíncrono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365760"/>
            <a:ext cx="1463040" cy="32004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36576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 / 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325880"/>
            <a:ext cx="3337560" cy="0"/>
          </a:xfrm>
          <a:prstGeom prst="line">
            <a:avLst/>
          </a:prstGeom>
          <a:ln w="27940">
            <a:solidFill>
              <a:srgbClr val="00C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664043" cy="39319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863840" y="1554480"/>
            <a:ext cx="365760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1554480"/>
            <a:ext cx="91440" cy="393192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645920"/>
            <a:ext cx="33832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2447"/>
                </a:solidFill>
                <a:latin typeface="Calibri"/>
              </a:rPr>
              <a:t>Cinco paquetes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1965960"/>
            <a:ext cx="3383280" cy="2103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00C896"/>
                </a:solidFill>
                <a:latin typeface="Calibri"/>
              </a:rPr>
              <a:t>•  </a:t>
            </a:r>
            <a:r>
              <a:rPr sz="1000">
                <a:solidFill>
                  <a:srgbClr val="1A202C"/>
                </a:solidFill>
                <a:latin typeface="Calibri"/>
              </a:rPr>
              <a:t>P1 · Autenticación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00C896"/>
                </a:solidFill>
                <a:latin typeface="Calibri"/>
              </a:rPr>
              <a:t>•  </a:t>
            </a:r>
            <a:r>
              <a:rPr sz="1000">
                <a:solidFill>
                  <a:srgbClr val="1A202C"/>
                </a:solidFill>
                <a:latin typeface="Calibri"/>
              </a:rPr>
              <a:t>P2 · Carga de video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00C896"/>
                </a:solidFill>
                <a:latin typeface="Calibri"/>
              </a:rPr>
              <a:t>•  </a:t>
            </a:r>
            <a:r>
              <a:rPr sz="1000">
                <a:solidFill>
                  <a:srgbClr val="1A202C"/>
                </a:solidFill>
                <a:latin typeface="Calibri"/>
              </a:rPr>
              <a:t>P3 · Pipeline de IA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00C896"/>
                </a:solidFill>
                <a:latin typeface="Calibri"/>
              </a:rPr>
              <a:t>•  </a:t>
            </a:r>
            <a:r>
              <a:rPr sz="1000">
                <a:solidFill>
                  <a:srgbClr val="1A202C"/>
                </a:solidFill>
                <a:latin typeface="Calibri"/>
              </a:rPr>
              <a:t>P4 · Resultados y reportes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00C896"/>
                </a:solidFill>
                <a:latin typeface="Calibri"/>
              </a:rPr>
              <a:t>•  </a:t>
            </a:r>
            <a:r>
              <a:rPr sz="1000">
                <a:solidFill>
                  <a:srgbClr val="1A202C"/>
                </a:solidFill>
                <a:latin typeface="Calibri"/>
              </a:rPr>
              <a:t>P5 · Dashboard y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160520"/>
            <a:ext cx="33832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2447"/>
                </a:solidFill>
                <a:latin typeface="Calibri"/>
              </a:rPr>
              <a:t>Actores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480560"/>
            <a:ext cx="338328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576CBC"/>
                </a:solidFill>
                <a:latin typeface="Calibri"/>
              </a:rPr>
              <a:t>•  </a:t>
            </a:r>
            <a:r>
              <a:rPr sz="1000">
                <a:solidFill>
                  <a:srgbClr val="1A202C"/>
                </a:solidFill>
                <a:latin typeface="Calibri"/>
              </a:rPr>
              <a:t>Investigador (principal)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576CBC"/>
                </a:solidFill>
                <a:latin typeface="Calibri"/>
              </a:rPr>
              <a:t>•  </a:t>
            </a:r>
            <a:r>
              <a:rPr sz="1000">
                <a:solidFill>
                  <a:srgbClr val="1A202C"/>
                </a:solidFill>
                <a:latin typeface="Calibri"/>
              </a:rPr>
              <a:t>Administrador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576CBC"/>
                </a:solidFill>
                <a:latin typeface="Calibri"/>
              </a:rPr>
              <a:t>•  </a:t>
            </a:r>
            <a:r>
              <a:rPr sz="1000">
                <a:solidFill>
                  <a:srgbClr val="1A202C"/>
                </a:solidFill>
                <a:latin typeface="Calibri"/>
              </a:rPr>
              <a:t>Worker (sistema)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669280"/>
            <a:ext cx="10728655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669280"/>
            <a:ext cx="91440" cy="822960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5840" y="5769864"/>
            <a:ext cx="2514600" cy="62179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5769864"/>
            <a:ext cx="2514600" cy="237744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769864"/>
            <a:ext cx="2514600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React + Vite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6007608"/>
            <a:ext cx="25146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1A202C"/>
                </a:solidFill>
                <a:latin typeface="Calibri"/>
              </a:rPr>
              <a:t>frontend en el navegador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83864" y="5806440"/>
            <a:ext cx="146304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447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93592" y="5769864"/>
            <a:ext cx="2514600" cy="62179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93592" y="5769864"/>
            <a:ext cx="2514600" cy="237744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93592" y="5769864"/>
            <a:ext cx="2514600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Flask + JWT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93592" y="6007608"/>
            <a:ext cx="25146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1A202C"/>
                </a:solidFill>
                <a:latin typeface="Calibri"/>
              </a:rPr>
              <a:t>API REST · valida · encola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71616" y="5806440"/>
            <a:ext cx="146304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447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1344" y="5769864"/>
            <a:ext cx="2514600" cy="62179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1344" y="5769864"/>
            <a:ext cx="2514600" cy="237744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81344" y="5769864"/>
            <a:ext cx="2514600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1344" y="6007608"/>
            <a:ext cx="25146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1A202C"/>
                </a:solidFill>
                <a:latin typeface="Calibri"/>
              </a:rPr>
              <a:t>persistencia ACID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59368" y="5806440"/>
            <a:ext cx="146304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B2447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69096" y="5769864"/>
            <a:ext cx="2514600" cy="62179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69096" y="5769864"/>
            <a:ext cx="2514600" cy="237744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69096" y="5769864"/>
            <a:ext cx="2514600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Worker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69096" y="6007608"/>
            <a:ext cx="25146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1A202C"/>
                </a:solidFill>
                <a:latin typeface="Calibri"/>
              </a:rPr>
              <a:t>pipeline IA asíncrono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56539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TT 2026-B066  ·  ESCOM-IPN  ·  Sistema FST con 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B2447"/>
                </a:solidFill>
                <a:latin typeface="Georgia"/>
              </a:rPr>
              <a:t>Diseño del Pipeline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Preprocesamiento · detección · seguimiento · clasificación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365760"/>
            <a:ext cx="1463040" cy="32004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36576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 / 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325880"/>
            <a:ext cx="3337560" cy="0"/>
          </a:xfrm>
          <a:prstGeom prst="line">
            <a:avLst/>
          </a:prstGeom>
          <a:ln w="27940">
            <a:solidFill>
              <a:srgbClr val="00C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00200"/>
            <a:ext cx="4507764" cy="44805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675120" y="1691640"/>
            <a:ext cx="5029200" cy="10058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0" y="1691640"/>
            <a:ext cx="91440" cy="1005839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0" y="1874520"/>
            <a:ext cx="640080" cy="640080"/>
          </a:xfrm>
          <a:prstGeom prst="ellipse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87452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801368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2447"/>
                </a:solidFill>
                <a:latin typeface="Calibri"/>
              </a:rPr>
              <a:t>Preprocesamiento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148840"/>
            <a:ext cx="4023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Decodificación + CLAHE adaptativo si el contraste cae bajo umbral; morfología de apertura para ruido.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788920"/>
            <a:ext cx="5029200" cy="10058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75120" y="2788920"/>
            <a:ext cx="91440" cy="1005839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0" y="2971800"/>
            <a:ext cx="640080" cy="640080"/>
          </a:xfrm>
          <a:prstGeom prst="ellipse">
            <a:avLst/>
          </a:prstGeom>
          <a:solidFill>
            <a:srgbClr val="576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297180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898648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2447"/>
                </a:solidFill>
                <a:latin typeface="Calibri"/>
              </a:rPr>
              <a:t>Detección de cilindros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246120"/>
            <a:ext cx="4023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Localiza los 4 ROIs con confianza ≥ 0.70 (RN-11); si falla, se genera reporte de diagnóstico.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3886200"/>
            <a:ext cx="5029200" cy="10058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75120" y="3886200"/>
            <a:ext cx="91440" cy="1005839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58000" y="4069080"/>
            <a:ext cx="640080" cy="640080"/>
          </a:xfrm>
          <a:prstGeom prst="ellipse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406908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995928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2447"/>
                </a:solidFill>
                <a:latin typeface="Calibri"/>
              </a:rPr>
              <a:t>Seguimiento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4343400"/>
            <a:ext cx="4023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YOLOv8 + ByteTrack con filtro de Kalman; respaldo CSRT/KCF si no hay GPU.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4983479"/>
            <a:ext cx="5029200" cy="10058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75120" y="4983479"/>
            <a:ext cx="91440" cy="1005839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0" y="5166359"/>
            <a:ext cx="640080" cy="64008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5166359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5093207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2447"/>
                </a:solidFill>
                <a:latin typeface="Calibri"/>
              </a:rPr>
              <a:t>Clasificación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5440679"/>
            <a:ext cx="40233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ResNet-18 con transfer learning (ImageNet → 3 conductas); ResNet-50 como alternativa.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56539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TT 2026-B066  ·  ESCOM-IPN  ·  Sistema FST con 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B2447"/>
                </a:solidFill>
                <a:latin typeface="Georgia"/>
              </a:rPr>
              <a:t>Diseño de la Base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Modelo entidad–relación · persistencia en PostgreSQL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365760"/>
            <a:ext cx="1463040" cy="32004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36576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 / 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325880"/>
            <a:ext cx="3337560" cy="0"/>
          </a:xfrm>
          <a:prstGeom prst="line">
            <a:avLst/>
          </a:prstGeom>
          <a:ln w="27940">
            <a:solidFill>
              <a:srgbClr val="00C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941" y="1536192"/>
            <a:ext cx="3209811" cy="49377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1536192"/>
            <a:ext cx="2788920" cy="4937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536192"/>
            <a:ext cx="82296" cy="493776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45920"/>
            <a:ext cx="256032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2447"/>
                </a:solidFill>
                <a:latin typeface="Calibri"/>
              </a:rPr>
              <a:t>Entidades principales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029968"/>
            <a:ext cx="2514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896"/>
                </a:solidFill>
                <a:latin typeface="Calibri"/>
              </a:rPr>
              <a:t>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49424"/>
            <a:ext cx="251460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  <a:latin typeface="Calibri"/>
              </a:rPr>
              <a:t>Rol (investigador / admin)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542032"/>
            <a:ext cx="2514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896"/>
                </a:solidFill>
                <a:latin typeface="Calibri"/>
              </a:rPr>
              <a:t>EXPERIMENTS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761488"/>
            <a:ext cx="251460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  <a:latin typeface="Calibri"/>
              </a:rPr>
              <a:t>Nombre, fecha, tratamiento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54096"/>
            <a:ext cx="2514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896"/>
                </a:solidFill>
                <a:latin typeface="Calibri"/>
              </a:rPr>
              <a:t>VIDEOS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73552"/>
            <a:ext cx="251460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  <a:latin typeface="Calibri"/>
              </a:rPr>
              <a:t>DAY1 / DAY2, deletion_date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66160"/>
            <a:ext cx="2514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896"/>
                </a:solidFill>
                <a:latin typeface="Calibri"/>
              </a:rPr>
              <a:t>JOBS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85616"/>
            <a:ext cx="251460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  <a:latin typeface="Calibri"/>
              </a:rPr>
              <a:t>Estado, etapa, progress_pct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78224"/>
            <a:ext cx="2514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896"/>
                </a:solidFill>
                <a:latin typeface="Calibri"/>
              </a:rPr>
              <a:t>ANIMALS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97680"/>
            <a:ext cx="251460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  <a:latin typeface="Calibri"/>
              </a:rPr>
              <a:t>ROI por sujeto (1–4)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90288"/>
            <a:ext cx="2514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896"/>
                </a:solidFill>
                <a:latin typeface="Calibri"/>
              </a:rPr>
              <a:t>BEHAVIOR_RESULTS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09744"/>
            <a:ext cx="251460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  <a:latin typeface="Calibri"/>
              </a:rPr>
              <a:t>swim · immobile · escape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02352"/>
            <a:ext cx="2514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896"/>
                </a:solidFill>
                <a:latin typeface="Calibri"/>
              </a:rPr>
              <a:t>REPORTS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21808"/>
            <a:ext cx="251460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  <a:latin typeface="Calibri"/>
              </a:rPr>
              <a:t>PDF / 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14416"/>
            <a:ext cx="2514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C896"/>
                </a:solidFill>
                <a:latin typeface="Calibri"/>
              </a:rPr>
              <a:t>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33872"/>
            <a:ext cx="251460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A202C"/>
                </a:solidFill>
                <a:latin typeface="Calibri"/>
              </a:rPr>
              <a:t>análisis, expiración, error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48495" y="1536192"/>
            <a:ext cx="2240280" cy="4937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48495" y="1536192"/>
            <a:ext cx="82296" cy="4937760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31375" y="1645920"/>
            <a:ext cx="20574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2447"/>
                </a:solidFill>
                <a:latin typeface="Calibri"/>
              </a:rPr>
              <a:t>Claves del diseño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1375" y="2029968"/>
            <a:ext cx="2103120" cy="4206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00C896"/>
                </a:solidFill>
                <a:latin typeface="Calibri"/>
              </a:rPr>
              <a:t>•  </a:t>
            </a:r>
            <a:r>
              <a:rPr sz="1000">
                <a:solidFill>
                  <a:srgbClr val="1A202C"/>
                </a:solidFill>
                <a:latin typeface="Calibri"/>
              </a:rPr>
              <a:t>PostgreSQL con ACID.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00C896"/>
                </a:solidFill>
                <a:latin typeface="Calibri"/>
              </a:rPr>
              <a:t>•  </a:t>
            </a:r>
            <a:r>
              <a:rPr sz="1000">
                <a:solidFill>
                  <a:srgbClr val="1A202C"/>
                </a:solidFill>
                <a:latin typeface="Calibri"/>
              </a:rPr>
              <a:t>SQLAlchemy como ORM.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00C896"/>
                </a:solidFill>
                <a:latin typeface="Calibri"/>
              </a:rPr>
              <a:t>•  </a:t>
            </a:r>
            <a:r>
              <a:rPr sz="1000">
                <a:solidFill>
                  <a:srgbClr val="1A202C"/>
                </a:solidFill>
                <a:latin typeface="Calibri"/>
              </a:rPr>
              <a:t>Borrar experimento elimina todo lo asociado (composición).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00C896"/>
                </a:solidFill>
                <a:latin typeface="Calibri"/>
              </a:rPr>
              <a:t>•  </a:t>
            </a:r>
            <a:r>
              <a:rPr sz="1000">
                <a:solidFill>
                  <a:srgbClr val="1A202C"/>
                </a:solidFill>
                <a:latin typeface="Calibri"/>
              </a:rPr>
              <a:t>Resultados sobreviven al borrado del video (RN-06).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00C896"/>
                </a:solidFill>
                <a:latin typeface="Calibri"/>
              </a:rPr>
              <a:t>•  </a:t>
            </a:r>
            <a:r>
              <a:rPr sz="1000">
                <a:solidFill>
                  <a:srgbClr val="1A202C"/>
                </a:solidFill>
                <a:latin typeface="Calibri"/>
              </a:rPr>
              <a:t>Jobs ligan video↔pipeline y conservan progreso por etapa.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00C896"/>
                </a:solidFill>
                <a:latin typeface="Calibri"/>
              </a:rPr>
              <a:t>•  </a:t>
            </a:r>
            <a:r>
              <a:rPr sz="1000">
                <a:solidFill>
                  <a:srgbClr val="1A202C"/>
                </a:solidFill>
                <a:latin typeface="Calibri"/>
              </a:rPr>
              <a:t>Notifications: análisis listo, expiración 30 d, error.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56539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TT 2026-B066  ·  ESCOM-IPN  ·  Sistema FST con 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B2447"/>
                </a:solidFill>
                <a:latin typeface="Georgia"/>
              </a:rPr>
              <a:t>Vistas del Prototipo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Dashboard · creación de experimento · resultados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365760"/>
            <a:ext cx="1463040" cy="32004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36576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 / 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325880"/>
            <a:ext cx="3337560" cy="0"/>
          </a:xfrm>
          <a:prstGeom prst="line">
            <a:avLst/>
          </a:prstGeom>
          <a:ln w="27940">
            <a:solidFill>
              <a:srgbClr val="00C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44855" y="16459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4855" y="1645920"/>
            <a:ext cx="3657600" cy="4572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735" y="1645920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2015" y="2148840"/>
            <a:ext cx="3429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Acceso con correo @ipn.mx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015" y="2468880"/>
            <a:ext cx="34290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0B2447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Campo email + contraseña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0B2447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Mensaje de error genérico (RN-01)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0B2447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Enlace de recuperación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7047" y="16459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7047" y="1645920"/>
            <a:ext cx="3657600" cy="457200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9927" y="1645920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Dashboard del investigador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4207" y="2148840"/>
            <a:ext cx="3429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Lista de experimentos y estado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4207" y="2468880"/>
            <a:ext cx="34290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576CBC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Progreso por análisis activo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576CBC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Aviso de video &lt;7 días a expirar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576CBC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Acceso directo a cada experimento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9239" y="16459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9239" y="1645920"/>
            <a:ext cx="3657600" cy="457200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119" y="1645920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Creación de experimento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6399" y="2148840"/>
            <a:ext cx="3429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Formulario en tres pasos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6399" y="2468880"/>
            <a:ext cx="34290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19376D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Metadatos (nombre, fecha, tratamiento)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19376D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Asignación de ROIs a animales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19376D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Carga de videos DAY1 / DAY2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4855" y="4096512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4855" y="4096512"/>
            <a:ext cx="3657600" cy="457200"/>
          </a:xfrm>
          <a:prstGeom prst="rect">
            <a:avLst/>
          </a:prstGeom>
          <a:solidFill>
            <a:srgbClr val="E96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735" y="4096512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Progreso del análisis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2015" y="4599432"/>
            <a:ext cx="3429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Barra en tiempo real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2015" y="4919472"/>
            <a:ext cx="34290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E96B37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4 etapas visibles del pipeline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E96B37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Porcentaje por etapa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E96B37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Manejo de error con reporte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67047" y="4096512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67047" y="4096512"/>
            <a:ext cx="3657600" cy="457200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49927" y="4096512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Resultados del experimento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4207" y="4599432"/>
            <a:ext cx="3429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Cuatro pestañas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4207" y="4919472"/>
            <a:ext cx="34290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00C896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Resumen por conducta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00C896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Detalle por animal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00C896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Desglose por minuto · DAY1 vs DAY2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89239" y="4096512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89239" y="4096512"/>
            <a:ext cx="3657600" cy="457200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2119" y="4096512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Panel de administración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6399" y="4599432"/>
            <a:ext cx="3429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Métricas y gestión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6399" y="4919472"/>
            <a:ext cx="34290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19376D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Uso de disco · cola · análisis activos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19376D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Gestión de usuarios y roles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19376D"/>
                </a:solidFill>
                <a:latin typeface="Calibri"/>
              </a:rPr>
              <a:t>•  </a:t>
            </a:r>
            <a:r>
              <a:rPr sz="900">
                <a:solidFill>
                  <a:srgbClr val="1A202C"/>
                </a:solidFill>
                <a:latin typeface="Calibri"/>
              </a:rPr>
              <a:t>Alertas al 80 % de capacidad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56539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TT 2026-B066  ·  ESCOM-IPN  ·  Sistema FST con 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B2447"/>
                </a:solidFill>
                <a:latin typeface="Georgia"/>
              </a:rPr>
              <a:t>Validación y Métricas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κ de Cohen · F1-score · Error Absoluto 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365760"/>
            <a:ext cx="1463040" cy="32004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36576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 / 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325880"/>
            <a:ext cx="3337560" cy="0"/>
          </a:xfrm>
          <a:prstGeom prst="line">
            <a:avLst/>
          </a:prstGeom>
          <a:ln w="27940">
            <a:solidFill>
              <a:srgbClr val="00C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80847" y="1691640"/>
            <a:ext cx="365760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0847" y="1691640"/>
            <a:ext cx="82296" cy="237744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447" y="1828800"/>
            <a:ext cx="32918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0B2447"/>
                </a:solidFill>
                <a:latin typeface="Georgia"/>
              </a:rPr>
              <a:t>κ &gt; 0.80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447" y="269748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2447"/>
                </a:solidFill>
                <a:latin typeface="Calibri"/>
              </a:rPr>
              <a:t>κ de Cohen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447" y="3200400"/>
            <a:ext cx="32918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alibri"/>
              </a:rPr>
              <a:t>Concordancia inter-evaluador vs anotaciones expertas (gold standard con BORIS).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7047" y="1691640"/>
            <a:ext cx="365760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7047" y="1691640"/>
            <a:ext cx="82296" cy="2377440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5647" y="1828800"/>
            <a:ext cx="32918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576CBC"/>
                </a:solidFill>
                <a:latin typeface="Georgia"/>
              </a:rPr>
              <a:t>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5647" y="269748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2447"/>
                </a:solidFill>
                <a:latin typeface="Calibri"/>
              </a:rPr>
              <a:t>F1-score por clase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5647" y="3200400"/>
            <a:ext cx="32918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alibri"/>
              </a:rPr>
              <a:t>Balance precisión/recall por conducta; detecta sesgos de clase minoritaria.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53247" y="1691640"/>
            <a:ext cx="365760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3247" y="1691640"/>
            <a:ext cx="82296" cy="2377440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1847" y="1828800"/>
            <a:ext cx="32918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00C896"/>
                </a:solidFill>
                <a:latin typeface="Georgia"/>
              </a:rPr>
              <a:t>MAE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1847" y="269748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2447"/>
                </a:solidFill>
                <a:latin typeface="Calibri"/>
              </a:rPr>
              <a:t>Error absoluto medio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1847" y="3200400"/>
            <a:ext cx="32918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  <a:latin typeface="Calibri"/>
              </a:rPr>
              <a:t>Segundos por animal y conducta respecto al registro manual.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297680"/>
            <a:ext cx="10728655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297680"/>
            <a:ext cx="109728" cy="2194560"/>
          </a:xfrm>
          <a:prstGeom prst="rect">
            <a:avLst/>
          </a:prstGeom>
          <a:solidFill>
            <a:srgbClr val="193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43484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B2447"/>
                </a:solidFill>
                <a:latin typeface="Georgia"/>
              </a:rPr>
              <a:t>Usability y Time behaviour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8463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  <a:latin typeface="Calibri"/>
              </a:rPr>
              <a:t>Un investigador sin experiencia en programación debe crear un experimento, subir el video, esperar el análisis y descargar el reporte sin ayuda técnica.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4864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2447"/>
                </a:solidFill>
                <a:latin typeface="Calibri"/>
              </a:rPr>
              <a:t>Criterios de aceptación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80644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00C896"/>
                </a:solidFill>
                <a:latin typeface="Calibri"/>
              </a:rPr>
              <a:t>•  </a:t>
            </a:r>
            <a:r>
              <a:rPr sz="1100">
                <a:solidFill>
                  <a:srgbClr val="1A202C"/>
                </a:solidFill>
                <a:latin typeface="Calibri"/>
              </a:rPr>
              <a:t>Tasa de completación ≥ 90 % sin asistencia · al menos 1 usuario real del laboratorio.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00C896"/>
                </a:solidFill>
                <a:latin typeface="Calibri"/>
              </a:rPr>
              <a:t>•  </a:t>
            </a:r>
            <a:r>
              <a:rPr sz="1100">
                <a:solidFill>
                  <a:srgbClr val="1A202C"/>
                </a:solidFill>
                <a:latin typeface="Calibri"/>
              </a:rPr>
              <a:t>Tiempo de procesamiento ≤ tiempo de video en equipo del laboratorio (sin GPU).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56539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TT 2026-B066  ·  ESCOM-IPN  ·  Sistema FST con 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B2447"/>
                </a:solidFill>
                <a:latin typeface="Georgia"/>
              </a:rPr>
              <a:t>Conclusiones y Trabajo Futuro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Entregables de TT1 · siguientes pasos en TT2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365760"/>
            <a:ext cx="1463040" cy="32004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36576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 / 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325880"/>
            <a:ext cx="3337560" cy="0"/>
          </a:xfrm>
          <a:prstGeom prst="line">
            <a:avLst/>
          </a:prstGeom>
          <a:ln w="27940">
            <a:solidFill>
              <a:srgbClr val="00C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31520" y="1600200"/>
            <a:ext cx="548640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00200"/>
            <a:ext cx="5486400" cy="50292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5486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  Conclusiones de TT1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5212080" cy="4114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0C896"/>
                </a:solidFill>
                <a:latin typeface="Calibri"/>
              </a:rPr>
              <a:t>•  </a:t>
            </a:r>
            <a:r>
              <a:rPr sz="1100">
                <a:solidFill>
                  <a:srgbClr val="1A202C"/>
                </a:solidFill>
                <a:latin typeface="Calibri"/>
              </a:rPr>
              <a:t>Se documentó el protocolo FST del laboratorio y se cuantificó el costo del análisis manual.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0C896"/>
                </a:solidFill>
                <a:latin typeface="Calibri"/>
              </a:rPr>
              <a:t>•  </a:t>
            </a:r>
            <a:r>
              <a:rPr sz="1100">
                <a:solidFill>
                  <a:srgbClr val="1A202C"/>
                </a:solidFill>
                <a:latin typeface="Calibri"/>
              </a:rPr>
              <a:t>El estado del arte confirmó la brecha: no existe un sistema abierto, web y con 3 conductas.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0C896"/>
                </a:solidFill>
                <a:latin typeface="Calibri"/>
              </a:rPr>
              <a:t>•  </a:t>
            </a:r>
            <a:r>
              <a:rPr sz="1100">
                <a:solidFill>
                  <a:srgbClr val="1A202C"/>
                </a:solidFill>
                <a:latin typeface="Calibri"/>
              </a:rPr>
              <a:t>Se definieron 29 RF, 13 RNF y 13 reglas de negocio alineados a ISO/IEC 25010:2023.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0C896"/>
                </a:solidFill>
                <a:latin typeface="Calibri"/>
              </a:rPr>
              <a:t>•  </a:t>
            </a:r>
            <a:r>
              <a:rPr sz="1100">
                <a:solidFill>
                  <a:srgbClr val="1A202C"/>
                </a:solidFill>
                <a:latin typeface="Calibri"/>
              </a:rPr>
              <a:t>La arquitectura propuesta (React + Flask + PostgreSQL + worker) es factible con costo $0 en licencias.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0C896"/>
                </a:solidFill>
                <a:latin typeface="Calibri"/>
              </a:rPr>
              <a:t>•  </a:t>
            </a:r>
            <a:r>
              <a:rPr sz="1100">
                <a:solidFill>
                  <a:srgbClr val="1A202C"/>
                </a:solidFill>
                <a:latin typeface="Calibri"/>
              </a:rPr>
              <a:t>El pipeline de IA (YOLOv8 + ByteTrack + ResNet-18) es viable sin GPU con respaldo clásico.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00200"/>
            <a:ext cx="512064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600200"/>
            <a:ext cx="5120640" cy="502920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00200"/>
            <a:ext cx="51206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  Trabajo futuro · TT2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240280"/>
            <a:ext cx="4754880" cy="777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2240280"/>
            <a:ext cx="91440" cy="777240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31343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2447"/>
                </a:solidFill>
                <a:latin typeface="Calibri"/>
              </a:rPr>
              <a:t>Implementación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624328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Backend Flask con JWT, BD y API REST.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3090672"/>
            <a:ext cx="4754880" cy="777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3090672"/>
            <a:ext cx="91440" cy="777240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3163824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2447"/>
                </a:solidFill>
                <a:latin typeface="Calibri"/>
              </a:rP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474720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React + Vite con dashboard y reportes.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3941064"/>
            <a:ext cx="4754880" cy="777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3941064"/>
            <a:ext cx="91440" cy="777240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4014216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2447"/>
                </a:solidFill>
                <a:latin typeface="Calibri"/>
              </a:rPr>
              <a:t>Entrenamiento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325112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Ampliar dataset anotado en BORIS y entrenar ResNet-18.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4791456"/>
            <a:ext cx="4754880" cy="777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0" y="4791456"/>
            <a:ext cx="91440" cy="777240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4864608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2447"/>
                </a:solidFill>
                <a:latin typeface="Calibri"/>
              </a:rPr>
              <a:t>Validación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175504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Medir κ, F1 y MAE contra el gold standard.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5641848"/>
            <a:ext cx="4754880" cy="777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0" y="5641848"/>
            <a:ext cx="91440" cy="777240"/>
          </a:xfrm>
          <a:prstGeom prst="rect">
            <a:avLst/>
          </a:prstGeom>
          <a:solidFill>
            <a:srgbClr val="576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5715000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2447"/>
                </a:solidFill>
                <a:latin typeface="Calibri"/>
              </a:rPr>
              <a:t>Entrega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6025896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  <a:latin typeface="Calibri"/>
              </a:rPr>
              <a:t>Docker Compose, manuales y material de defensa.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56539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TT 2026-B066  ·  ESCOM-IPN  ·  Sistema FST con 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0B2447"/>
                </a:solidFill>
                <a:latin typeface="Georgia"/>
              </a:rPr>
              <a:t>Bibliografía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Fuentes citadas conforme al formato institucional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365760"/>
            <a:ext cx="1463040" cy="32004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36576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 / 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325880"/>
            <a:ext cx="3337560" cy="0"/>
          </a:xfrm>
          <a:prstGeom prst="line">
            <a:avLst/>
          </a:prstGeom>
          <a:ln w="27940">
            <a:solidFill>
              <a:srgbClr val="00C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1645920"/>
            <a:ext cx="5394960" cy="4846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0B2447"/>
                </a:solidFill>
                <a:latin typeface="Calibri"/>
              </a:rPr>
              <a:t>•  </a:t>
            </a:r>
            <a:r>
              <a:rPr sz="950">
                <a:solidFill>
                  <a:srgbClr val="1A202C"/>
                </a:solidFill>
                <a:latin typeface="Calibri"/>
              </a:rPr>
              <a:t>Porsolt, R. D., Le Pichon, M., &amp; Jalfre, M. (1977). Depression: a new animal model sensitive to antidepressant treatments. Nature, 266(5604), 730-732.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0B2447"/>
                </a:solidFill>
                <a:latin typeface="Calibri"/>
              </a:rPr>
              <a:t>•  </a:t>
            </a:r>
            <a:r>
              <a:rPr sz="950">
                <a:solidFill>
                  <a:srgbClr val="1A202C"/>
                </a:solidFill>
                <a:latin typeface="Calibri"/>
              </a:rPr>
              <a:t>Zhang, Y. et al. (2022). ByteTrack: Multi-object tracking by associating every detection box. ECCV 2022, pp. 1-21.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0B2447"/>
                </a:solidFill>
                <a:latin typeface="Calibri"/>
              </a:rPr>
              <a:t>•  </a:t>
            </a:r>
            <a:r>
              <a:rPr sz="950">
                <a:solidFill>
                  <a:srgbClr val="1A202C"/>
                </a:solidFill>
                <a:latin typeface="Calibri"/>
              </a:rPr>
              <a:t>He, K., Zhang, X., Ren, S., &amp; Sun, J. (2016). Deep residual learning for image recognition. CVPR, pp. 770-778.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0B2447"/>
                </a:solidFill>
                <a:latin typeface="Calibri"/>
              </a:rPr>
              <a:t>•  </a:t>
            </a:r>
            <a:r>
              <a:rPr sz="950">
                <a:solidFill>
                  <a:srgbClr val="1A202C"/>
                </a:solidFill>
                <a:latin typeface="Calibri"/>
              </a:rPr>
              <a:t>Jocher, G. et al. (2023). YOLOv8 by Ultralytics. Documentación oficial. Ultralytics.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0B2447"/>
                </a:solidFill>
                <a:latin typeface="Calibri"/>
              </a:rPr>
              <a:t>•  </a:t>
            </a:r>
            <a:r>
              <a:rPr sz="950">
                <a:solidFill>
                  <a:srgbClr val="1A202C"/>
                </a:solidFill>
                <a:latin typeface="Calibri"/>
              </a:rPr>
              <a:t>Zuiderveld, K. (1994). Contrast limited adaptive histogram equalization. Graphics Gems IV, pp. 474-485.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0B2447"/>
                </a:solidFill>
                <a:latin typeface="Calibri"/>
              </a:rPr>
              <a:t>•  </a:t>
            </a:r>
            <a:r>
              <a:rPr sz="950">
                <a:solidFill>
                  <a:srgbClr val="1A202C"/>
                </a:solidFill>
                <a:latin typeface="Calibri"/>
              </a:rPr>
              <a:t>ISO/IEC 25010:2023. Systems and software engineering — Systems and software Quality Requirements and Evaluation (SQuaRE).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394960" cy="4846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0B2447"/>
                </a:solidFill>
                <a:latin typeface="Calibri"/>
              </a:rPr>
              <a:t>•  </a:t>
            </a:r>
            <a:r>
              <a:rPr sz="950">
                <a:solidFill>
                  <a:srgbClr val="1A202C"/>
                </a:solidFill>
                <a:latin typeface="Calibri"/>
              </a:rPr>
              <a:t>ISO/IEC/IEEE 12207:2017. Systems and software engineering — Software life cycle processes.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0B2447"/>
                </a:solidFill>
                <a:latin typeface="Calibri"/>
              </a:rPr>
              <a:t>•  </a:t>
            </a:r>
            <a:r>
              <a:rPr sz="950">
                <a:solidFill>
                  <a:srgbClr val="1A202C"/>
                </a:solidFill>
                <a:latin typeface="Calibri"/>
              </a:rPr>
              <a:t>Friard, O., &amp; Gamba, M. (2016). BORIS: Behavioral Observation Research Interactive Software. Methods in Ecology and Evolution, 7(11), 1325-1330.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0B2447"/>
                </a:solidFill>
                <a:latin typeface="Calibri"/>
              </a:rPr>
              <a:t>•  </a:t>
            </a:r>
            <a:r>
              <a:rPr sz="950">
                <a:solidFill>
                  <a:srgbClr val="1A202C"/>
                </a:solidFill>
                <a:latin typeface="Calibri"/>
              </a:rPr>
              <a:t>Pennington, Z. T. et al. (2019). ezTrack: An open-source video analysis pipeline. Scientific Reports, 9(1), 19979.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0B2447"/>
                </a:solidFill>
                <a:latin typeface="Calibri"/>
              </a:rPr>
              <a:t>•  </a:t>
            </a:r>
            <a:r>
              <a:rPr sz="950">
                <a:solidFill>
                  <a:srgbClr val="1A202C"/>
                </a:solidFill>
                <a:latin typeface="Calibri"/>
              </a:rPr>
              <a:t>Organización Mundial de la Salud (2023). Depression and Other Common Mental Disorders: Global Health Estimates.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0B2447"/>
                </a:solidFill>
                <a:latin typeface="Calibri"/>
              </a:rPr>
              <a:t>•  </a:t>
            </a:r>
            <a:r>
              <a:rPr sz="950">
                <a:solidFill>
                  <a:srgbClr val="1A202C"/>
                </a:solidFill>
                <a:latin typeface="Calibri"/>
              </a:rPr>
              <a:t>Schwaber, K., &amp; Sutherland, J. (2020). The Scrum Guide.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0B2447"/>
                </a:solidFill>
                <a:latin typeface="Calibri"/>
              </a:rPr>
              <a:t>•  </a:t>
            </a:r>
            <a:r>
              <a:rPr sz="950">
                <a:solidFill>
                  <a:srgbClr val="1A202C"/>
                </a:solidFill>
                <a:latin typeface="Calibri"/>
              </a:rPr>
              <a:t>NOM-062-ZOO-1999. Especificaciones técnicas para la producción, cuidado y uso de los animales de laboratorio. DOF, México.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TT 2026-B066  ·  ESCOM-IPN  ·  Sistema FST con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554480"/>
            <a:ext cx="121916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0C896"/>
                </a:solidFill>
                <a:latin typeface="Georgia"/>
              </a:rPr>
              <a:t>TRABAJO TERMINAL  ·  2026-B066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728655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Georgia"/>
              </a:rPr>
              <a:t>De horas frente al cronómetro
a minutos de análisis automatizado.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72865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1">
                <a:solidFill>
                  <a:srgbClr val="CADCFC"/>
                </a:solidFill>
                <a:latin typeface="Calibri"/>
              </a:rPr>
              <a:t>Un prototipo abierto, desplegable con Docker y validado contra el gold standard del laboratorio.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0" y="4434840"/>
            <a:ext cx="3977640" cy="0"/>
          </a:xfrm>
          <a:prstGeom prst="line">
            <a:avLst/>
          </a:prstGeom>
          <a:ln w="25400">
            <a:solidFill>
              <a:srgbClr val="00C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0" y="4663440"/>
            <a:ext cx="121916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Georgia"/>
              </a:rPr>
              <a:t>Gracias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486400"/>
            <a:ext cx="12191695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 i="1">
                <a:solidFill>
                  <a:srgbClr val="00C896"/>
                </a:solidFill>
                <a:latin typeface="Calibri"/>
              </a:rPr>
              <a:t>¿Preguntas?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  <a:latin typeface="Calibri"/>
              </a:rPr>
              <a:t>Frausto Robles Ángel Ali   ·   Rodríguez Verdín Sandoval Vanesa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355080"/>
            <a:ext cx="1219169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CADCFC"/>
                </a:solidFill>
                <a:latin typeface="Calibri"/>
              </a:rPr>
              <a:t>ESCOM-IPN  ·  Mayo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